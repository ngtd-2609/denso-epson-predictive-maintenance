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8ee5e9859242f4" /><Relationship Type="http://schemas.openxmlformats.org/officeDocument/2006/relationships/extended-properties" Target="/docProps/app.xml" Id="Rf5780979122643f3" /><Relationship Type="http://schemas.openxmlformats.org/officeDocument/2006/relationships/officeDocument" Target="/ppt/presentation.xml" Id="R803540afe1c44ded" /></Relationships>
</file>

<file path=ppt/presentation.xml><?xml version="1.0" encoding="utf-8"?>
<p:presentation xmlns:p="http://schemas.openxmlformats.org/presentationml/2006/main">
  <p:sldMasterIdLst>
    <p:sldMasterId xmlns:r="http://schemas.openxmlformats.org/officeDocument/2006/relationships" id="2147483648" r:id="R74a2720e1ea64d6c"/>
  </p:sldMasterIdLst>
  <p:notesMasterIdLst>
    <p:notesMasterId xmlns:r="http://schemas.openxmlformats.org/officeDocument/2006/relationships" r:id="R5350087957264932"/>
  </p:notesMasterIdLst>
  <p:sldIdLst>
    <p:sldId xmlns:r="http://schemas.openxmlformats.org/officeDocument/2006/relationships" id="256" r:id="Rc2af781c69354e7b"/>
    <p:sldId xmlns:r="http://schemas.openxmlformats.org/officeDocument/2006/relationships" id="257" r:id="Re250a9c1289e44f5"/>
    <p:sldId xmlns:r="http://schemas.openxmlformats.org/officeDocument/2006/relationships" id="258" r:id="R33281850aef94cb4"/>
    <p:sldId xmlns:r="http://schemas.openxmlformats.org/officeDocument/2006/relationships" id="259" r:id="R669fa569353a44d5"/>
    <p:sldId xmlns:r="http://schemas.openxmlformats.org/officeDocument/2006/relationships" id="260" r:id="Rf394d03c24be4a2e"/>
    <p:sldId xmlns:r="http://schemas.openxmlformats.org/officeDocument/2006/relationships" id="261" r:id="R28e31d2117d74c21"/>
    <p:sldId xmlns:r="http://schemas.openxmlformats.org/officeDocument/2006/relationships" id="262" r:id="Racc38b684e5446d7"/>
    <p:sldId xmlns:r="http://schemas.openxmlformats.org/officeDocument/2006/relationships" id="263" r:id="R435c65e3cd9a42d6"/>
    <p:sldId xmlns:r="http://schemas.openxmlformats.org/officeDocument/2006/relationships" id="264" r:id="Rf70452aaa8f84803"/>
    <p:sldId xmlns:r="http://schemas.openxmlformats.org/officeDocument/2006/relationships" id="265" r:id="R8b02ffa1eea644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40a8137aae4557" /><Relationship Type="http://schemas.openxmlformats.org/officeDocument/2006/relationships/slideMaster" Target="/ppt/slideMasters/slideMaster1.xml" Id="R74a2720e1ea64d6c" /><Relationship Type="http://schemas.openxmlformats.org/officeDocument/2006/relationships/notesMaster" Target="/ppt/notesMasters/notesMaster1.xml" Id="R5350087957264932" /><Relationship Type="http://schemas.openxmlformats.org/officeDocument/2006/relationships/presProps" Target="/ppt/presProps.xml" Id="R8a5bef7ae20e402a" /><Relationship Type="http://schemas.openxmlformats.org/officeDocument/2006/relationships/tableStyles" Target="/ppt/tableStyles.xml" Id="Rdc2c8d431e7d4827" /><Relationship Type="http://schemas.openxmlformats.org/officeDocument/2006/relationships/slide" Target="/ppt/slides/slide1.xml" Id="Rc2af781c69354e7b" /><Relationship Type="http://schemas.openxmlformats.org/officeDocument/2006/relationships/slide" Target="/ppt/slides/slide2.xml" Id="Re250a9c1289e44f5" /><Relationship Type="http://schemas.openxmlformats.org/officeDocument/2006/relationships/slide" Target="/ppt/slides/slide3.xml" Id="R33281850aef94cb4" /><Relationship Type="http://schemas.openxmlformats.org/officeDocument/2006/relationships/slide" Target="/ppt/slides/slide4.xml" Id="R669fa569353a44d5" /><Relationship Type="http://schemas.openxmlformats.org/officeDocument/2006/relationships/slide" Target="/ppt/slides/slide5.xml" Id="Rf394d03c24be4a2e" /><Relationship Type="http://schemas.openxmlformats.org/officeDocument/2006/relationships/slide" Target="/ppt/slides/slide6.xml" Id="R28e31d2117d74c21" /><Relationship Type="http://schemas.openxmlformats.org/officeDocument/2006/relationships/slide" Target="/ppt/slides/slide7.xml" Id="Racc38b684e5446d7" /><Relationship Type="http://schemas.openxmlformats.org/officeDocument/2006/relationships/slide" Target="/ppt/slides/slide8.xml" Id="R435c65e3cd9a42d6" /><Relationship Type="http://schemas.openxmlformats.org/officeDocument/2006/relationships/slide" Target="/ppt/slides/slide9.xml" Id="Rf70452aaa8f84803" /><Relationship Type="http://schemas.openxmlformats.org/officeDocument/2006/relationships/slide" Target="/ppt/slides/slide10.xml" Id="R8b02ffa1eea644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ff819258be42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1c50e234374c15" /><Relationship Type="http://schemas.openxmlformats.org/officeDocument/2006/relationships/notesMaster" Target="/ppt/notesMasters/notesMaster1.xml" Id="R89db32f527474f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1953f26a9f419a" /><Relationship Type="http://schemas.openxmlformats.org/officeDocument/2006/relationships/notesMaster" Target="/ppt/notesMasters/notesMaster1.xml" Id="Rbda8e10f107241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4f257ec77240e0" /><Relationship Type="http://schemas.openxmlformats.org/officeDocument/2006/relationships/notesMaster" Target="/ppt/notesMasters/notesMaster1.xml" Id="Ree0a23862f9943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b294e7c9cf4057" /><Relationship Type="http://schemas.openxmlformats.org/officeDocument/2006/relationships/notesMaster" Target="/ppt/notesMasters/notesMaster1.xml" Id="R99856846501944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30566c5fcd4097" /><Relationship Type="http://schemas.openxmlformats.org/officeDocument/2006/relationships/notesMaster" Target="/ppt/notesMasters/notesMaster1.xml" Id="Rc52ea253edad4d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79278e44614594" /><Relationship Type="http://schemas.openxmlformats.org/officeDocument/2006/relationships/notesMaster" Target="/ppt/notesMasters/notesMaster1.xml" Id="Rc3ae666b95ac49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20df604ccf482d" /><Relationship Type="http://schemas.openxmlformats.org/officeDocument/2006/relationships/notesMaster" Target="/ppt/notesMasters/notesMaster1.xml" Id="Recdd2ceb629947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0642fdce434a6f" /><Relationship Type="http://schemas.openxmlformats.org/officeDocument/2006/relationships/notesMaster" Target="/ppt/notesMasters/notesMaster1.xml" Id="R2b893ecad9b24e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df28a7acc34a3b" /><Relationship Type="http://schemas.openxmlformats.org/officeDocument/2006/relationships/notesMaster" Target="/ppt/notesMasters/notesMaster1.xml" Id="R0d375b60a7714c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483812aaf8643c2" /><Relationship Type="http://schemas.openxmlformats.org/officeDocument/2006/relationships/notesMaster" Target="/ppt/notesMasters/notesMaster1.xml" Id="R26ef670409c848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Bài này xuất phát từ vấn đề thiếu dữ liệu lỗi khi huấn luyện mô hình giám sát thiết bị. Tôi thử tạo thêm tín hiệu rung bằng cVAE rồi so sánh với các cách tăng cường đơn giản. Phần trình bày tập trung vào cách làm, kết quả và những gì có thể kết luận từ thí nghiệm.</a:t>
            </a:r>
          </a:p>
          <a:p xmlns:a="http://schemas.openxmlformats.org/drawingml/2006/main">
            <a:r>
              <a:t/>
            </a:r>
          </a:p>
          <a:p xmlns:a="http://schemas.openxmlformats.org/drawingml/2006/main">
            <a:r>
              <a:t>Nguồn: Tài liệu bài toán BTC và thí nghiệm main_gpu_final.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sản xuất, dữ liệu bình thường dễ thu hơn vì thiết bị hoạt động ổn định phần lớn thời gian. Dữ liệu lỗi ít hơn, còn việc chủ động gây lỗi có thể ảnh hưởng đến dây chuyền. Tôi dùng dữ liệu Epson để thử xem tạo thêm mẫu có giúp mô hình nhận ra lỗi tốt hơn hay không. Câu hỏi cần trả lời là hiệu quả trên tín hiệu thật, chứ không chỉ là sinh được nhiều mẫu.</a:t>
            </a:r>
          </a:p>
          <a:p xmlns:a="http://schemas.openxmlformats.org/drawingml/2006/main">
            <a:r>
              <a:t/>
            </a:r>
          </a:p>
          <a:p xmlns:a="http://schemas.openxmlformats.org/drawingml/2006/main">
            <a:r>
              <a:t>Nguồn: yeuCauBTC.png; trinhBayBaiToan.png.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Bộ Epson có 96 bản ghi vận tốc rung theo ba trục, lấy mẫu 3.000 Hz và tốc độ danh định 1.200 vòng/phút. Có một lớp bình thường và năm cấu hình mất cân bằng. Một bản ghi được cắt thành nhiều đoạn một giây. Thiết lập k1 chỉ dùng một bản ghi lỗi mỗi lớp để huấn luyện, k4 dùng bốn bản ghi. Hai thiết lập đều giữ tám bản ghi bình thường. Đây là năm cấu hình của cùng một loại bất thường, không phải năm cơ chế hỏng độc lập.</a:t>
            </a:r>
          </a:p>
          <a:p xmlns:a="http://schemas.openxmlformats.org/drawingml/2006/main">
            <a:r>
              <a:t/>
            </a:r>
          </a:p>
          <a:p xmlns:a="http://schemas.openxmlformats.org/drawingml/2006/main">
            <a:r>
              <a:t>Nguồn: Bộ dữ liệu Epson; dataset/results/split_seed42; split seed 42; scarcity seed 101.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cVAE có thể hiểu là mô hình học cách biểu diễn một đoạn tín hiệu bằng một vector ngắn rồi dựng lại tín hiệu đó. Nhãn giúp mô hình biết cấu hình bất thường cần tạo. Khi sinh mẫu, tôi đưa vào một vector ngẫu nhiên cùng nhãn lỗi. Kết quả là tín hiệu XYZ dài một giây. Mô hình dùng vector trung gian 32 chiều; khi huấn luyện, loss vừa đo sai số dựng lại tín hiệu vừa tổ chức không gian trung gian để có thể lấy mẫu.</a:t>
            </a:r>
          </a:p>
          <a:p xmlns:a="http://schemas.openxmlformats.org/drawingml/2006/main">
            <a:r>
              <a:t/>
            </a:r>
          </a:p>
          <a:p xmlns:a="http://schemas.openxmlformats.org/drawingml/2006/main">
            <a:r>
              <a:t>Nguồn: models.py; final.json; Kingma &amp; Welling, arXiv:1312.6114; Sohn et al., NeurIPS 2015.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Tôi so sánh bốn phương án. Nhánh đầu chỉ dùng tín hiệu thật. Nhánh thứ hai lặp mẫu thật, giúp kiểm tra lợi ích của việc tăng số lượng mẫu. Nhánh thứ ba thay đổi biên độ và dịch vòng, cùng phép biến đổi trên cả XYZ. Nhánh cuối dùng cVAE. Ba nhánh bổ sung có cùng số mẫu thêm cho từng lớp. Tất cả dùng CNN giống nhau và cùng số bước cập nhật, để giữ điều kiện so sánh nhất quán.</a:t>
            </a:r>
          </a:p>
          <a:p xmlns:a="http://schemas.openxmlformats.org/drawingml/2006/main">
            <a:r>
              <a:t/>
            </a:r>
          </a:p>
          <a:p xmlns:a="http://schemas.openxmlformats.org/drawingml/2006/main">
            <a:r>
              <a:t>Nguồn: core.py; training.py; configs/final.json.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Tôi chia dữ liệu theo bản ghi trước khi cắt thành đoạn một giây để tránh các đoạn cùng bản ghi xuất hiện ở cả huấn luyện và kiểm tra. Tập validation dùng chọn mô hình và ngưỡng báo động, còn tập test giữ riêng để đánh giá cuối. Kết quả chính gộp điểm của các đoạn trong một bản ghi bằng trung bình. Ba seed cùng dùng 24 bản ghi test, vì vậy chúng phản ánh biến thiên khởi tạo chứ không phải 72 bản ghi độc lập.</a:t>
            </a:r>
          </a:p>
          <a:p xmlns:a="http://schemas.openxmlformats.org/drawingml/2006/main">
            <a:r>
              <a:t/>
            </a:r>
          </a:p>
          <a:p xmlns:a="http://schemas.openxmlformats.org/drawingml/2006/main">
            <a:r>
              <a:t>Nguồn: split.json; final protocol; training.py.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ghi tỷ lệ phát hiện lỗi và báo nhầm, là trung bình ba seed. Với k1, cVAE nâng phát hiện từ 11,7% lên 43,3%, đồng thời báo nhầm tăng từ 8,3% lên 16,7%. Với k4, cVAE đạt 78,3% phát hiện, thấp hơn nhánh thật 96,7%. Tăng cường đơn giản cho kết quả tốt nhất ở cả hai mức. Kết quả 100% ở đây là theo bản ghi: từng đoạn một giây vẫn có lỗi, với phát hiện khoảng 95,2%. Và vì chỉ có bốn bản ghi bình thường test, FPR 0% chưa đủ để kết luận vận hành sẽ không có báo giả.</a:t>
            </a:r>
          </a:p>
          <a:p xmlns:a="http://schemas.openxmlformats.org/drawingml/2006/main">
            <a:r>
              <a:t/>
            </a:r>
          </a:p>
          <a:p xmlns:a="http://schemas.openxmlformats.org/drawingml/2006/main">
            <a:r>
              <a:t>Nguồn: report/metrics.csv; kết quả theo bản ghi và cửa sổ của main_gpu_final.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Tôi kiểm tra thêm chất lượng tín hiệu để hiểu vì sao tạo nhiều mẫu chưa cho kết quả tốt hơn. RMS mô tả mức biên độ. Tỷ lệ RMS của mẫu sinh so với dữ liệu thật chỉ khoảng 17,5% đến 25,8% theo kênh trong các tổ hợp đã kiểm tra. Mẫu sinh có biên độ thấp. Hình bên trái minh họa phổ năng lượng của một mẫu và trung bình dữ liệu train. Hai đường còn khác nhau về phân bố năng lượng. Đây là hạn chế quan sát được; thí nghiệm chưa xác định chắc chắn nguyên nhân.</a:t>
            </a:r>
          </a:p>
          <a:p xmlns:a="http://schemas.openxmlformats.org/drawingml/2006/main">
            <a:r>
              <a:t/>
            </a:r>
          </a:p>
          <a:p xmlns:a="http://schemas.openxmlformats.org/drawingml/2006/main">
            <a:r>
              <a:t>Nguồn: report/synthetic_quality.json; delivery/demo_class1/psd.png; mẫu lớp 1, seed sinh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chạy CPU, nhận nhãn lỗi, số lượng mẫu và seed. Ví dụ tôi chọn lớp 1 và tạo năm mẫu với seed 2026. Chương trình xuất dữ liệu NPZ, CSV của mẫu đầu và JSON thông tin sinh. Có cảnh báo RMS khi biên độ lệch so với train. Bộ tăng cường đầy đủ có 1.222 đoạn thật và 3.290 đoạn sinh, tổng 4.512. Bảng kết quả hiển thị trong demo là số liệu thí nghiệm đã lưu, không phải đánh giá mới của lô vừa tạo.</a:t>
            </a:r>
          </a:p>
          <a:p xmlns:a="http://schemas.openxmlformats.org/drawingml/2006/main">
            <a:r>
              <a:t/>
            </a:r>
          </a:p>
          <a:p xmlns:a="http://schemas.openxmlformats.org/drawingml/2006/main">
            <a:r>
              <a:t>Nguồn: Demo/demo.py; metadata.json; augmented_k1_seed11.json.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Tôi đã sinh được dữ liệu theo nhãn và thực hiện so sánh trước sau trên cùng dữ liệu thật. cVAE có ích về tỷ lệ phát hiện ở k1 nhưng tăng báo nhầm, còn ở k4 làm giảm tỷ lệ phát hiện. Trong bộ dữ liệu này, tăng cường đơn giản tốt hơn. Kết luận chính là cần kiểm tra chất lượng mẫu sinh và hiệu quả phát hiện đồng thời. Thí nghiệm cùng thiết bị và tốc độ chưa cho phép suy rộng sang máy khác hoặc lỗi chưa từng gặp.</a:t>
            </a:r>
          </a:p>
          <a:p xmlns:a="http://schemas.openxmlformats.org/drawingml/2006/main">
            <a:r>
              <a:t/>
            </a:r>
          </a:p>
          <a:p xmlns:a="http://schemas.openxmlformats.org/drawingml/2006/main">
            <a:r>
              <a:t>Nguồn: Tổng hợp metrics.csv và synthetic_quality.json.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920f1f6cb5401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91c1d0fe364e8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bcf6a9281294a8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f913c1fad443b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6e9ddce135547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fa4d8c44d4540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FC9521-55C3-4D85-988C-0D7CD5B9D00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912EDAB-157F-40A5-8C38-5597342E835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54390B8-D8C4-40F0-A0E5-787AE75369F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CB0593-69BA-44F8-9147-FA6B39B0C0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ACAF985-0556-4F69-BB98-FAF7BD32144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53D893A-E1D0-425C-A869-F31DD8E57C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D51A52-C336-44A3-98F0-B08C125D9B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8F786B8-875E-4396-A0D0-8B7096A2CEF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9A5296-FAB0-4F35-8BD6-D33C2B832F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BDA495-06DC-46B6-982D-854A22A79F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b15a5032de4d6b" /><Relationship Type="http://schemas.openxmlformats.org/officeDocument/2006/relationships/slideLayout" Target="/ppt/slideLayouts/slideLayout1.xml" Id="Rbc00a58f52264fda" /><Relationship Type="http://schemas.openxmlformats.org/officeDocument/2006/relationships/slideLayout" Target="/ppt/slideLayouts/slideLayout2.xml" Id="R44d790eea0694f4e" /><Relationship Type="http://schemas.openxmlformats.org/officeDocument/2006/relationships/slideLayout" Target="/ppt/slideLayouts/slideLayout3.xml" Id="Rddf06dc84cf74c54" /><Relationship Type="http://schemas.openxmlformats.org/officeDocument/2006/relationships/slideLayout" Target="/ppt/slideLayouts/slideLayout4.xml" Id="R82199576d7994a2b" /><Relationship Type="http://schemas.openxmlformats.org/officeDocument/2006/relationships/slideLayout" Target="/ppt/slideLayouts/slideLayout5.xml" Id="R2b95d925566546d3" /><Relationship Type="http://schemas.openxmlformats.org/officeDocument/2006/relationships/slideLayout" Target="/ppt/slideLayouts/slideLayout6.xml" Id="R982b6ef7a81b40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00a58f52264fda"/>
    <p:sldLayoutId xmlns:r="http://schemas.openxmlformats.org/officeDocument/2006/relationships" id="2147483650" r:id="R44d790eea0694f4e"/>
    <p:sldLayoutId xmlns:r="http://schemas.openxmlformats.org/officeDocument/2006/relationships" id="2147483651" r:id="Rddf06dc84cf74c54"/>
    <p:sldLayoutId xmlns:r="http://schemas.openxmlformats.org/officeDocument/2006/relationships" id="2147483652" r:id="R82199576d7994a2b"/>
    <p:sldLayoutId xmlns:r="http://schemas.openxmlformats.org/officeDocument/2006/relationships" id="2147483653" r:id="R2b95d925566546d3"/>
    <p:sldLayoutId xmlns:r="http://schemas.openxmlformats.org/officeDocument/2006/relationships" id="2147483654" r:id="R982b6ef7a81b40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aa774af997e49ec" /><Relationship Type="http://schemas.openxmlformats.org/officeDocument/2006/relationships/notesSlide" Target="/ppt/notesSlides/notesSlide1.xml" Id="Rc6b08f721c7d44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f13e2329c824868" /><Relationship Type="http://schemas.openxmlformats.org/officeDocument/2006/relationships/notesSlide" Target="/ppt/notesSlides/notesSlide2.xml" Id="Rb35ac9798ad948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89d71f276041af" /><Relationship Type="http://schemas.openxmlformats.org/officeDocument/2006/relationships/notesSlide" Target="/ppt/notesSlides/notesSlide3.xml" Id="Rbda6c6f1827549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196d4c0fdde445f" /><Relationship Type="http://schemas.openxmlformats.org/officeDocument/2006/relationships/notesSlide" Target="/ppt/notesSlides/notesSlide4.xml" Id="Ra355565838f344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8bfa34697b146ca" /><Relationship Type="http://schemas.openxmlformats.org/officeDocument/2006/relationships/notesSlide" Target="/ppt/notesSlides/notesSlide5.xml" Id="R134e7cd9f24f4a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a517f7387cc4f52" /><Relationship Type="http://schemas.openxmlformats.org/officeDocument/2006/relationships/notesSlide" Target="/ppt/notesSlides/notesSlide6.xml" Id="R846db2724f3946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23194e40d734783" /><Relationship Type="http://schemas.openxmlformats.org/officeDocument/2006/relationships/notesSlide" Target="/ppt/notesSlides/notesSlide7.xml" Id="Rddaba11034ad48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c8f6d860152435d" /><Relationship Type="http://schemas.openxmlformats.org/officeDocument/2006/relationships/image" Target="/ppt/media/image.png" Id="R962e82409a1a4f55" /><Relationship Type="http://schemas.openxmlformats.org/officeDocument/2006/relationships/notesSlide" Target="/ppt/notesSlides/notesSlide8.xml" Id="R33e8a3c27f204e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51ac851140d4e04" /><Relationship Type="http://schemas.openxmlformats.org/officeDocument/2006/relationships/notesSlide" Target="/ppt/notesSlides/notesSlide9.xml" Id="R43189f678bb842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794e1e2ffe3440b" /><Relationship Type="http://schemas.openxmlformats.org/officeDocument/2006/relationships/notesSlide" Target="/ppt/notesSlides/notesSlide10.xml" Id="R5442269a0d4a4bd7" /></Relationships>
</file>

<file path=ppt/slides/slide1.xml><?xml version="1.0" encoding="utf-8"?>
<p:sld xmlns:p="http://schemas.openxmlformats.org/presentationml/2006/main">
  <p:cSld>
    <p:bg>
      <p:bgPr>
        <a:solidFill xmlns:a="http://schemas.openxmlformats.org/drawingml/2006/main">
          <a:srgbClr val="1935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BB701D0-FAF8-4505-89DC-0BBCC32EC194}"/>
              </a:ext>
            </a:extLst>
          </p:cNvPr>
          <p:cNvSpPr>
            <a:spLocks xmlns:a="http://schemas.openxmlformats.org/drawingml/2006/main" noGrp="1"/>
          </p:cNvSpPr>
          <p:nvPr/>
        </p:nvSpPr>
        <p:spPr>
          <a:xfrm xmlns:a="http://schemas.openxmlformats.org/drawingml/2006/main">
            <a:off x="609600" y="6410325"/>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C4D9DF"/>
                </a:solidFill>
                <a:latin typeface="Arial"/>
                <a:ea typeface="Arial"/>
                <a:cs typeface="Arial"/>
              </a:defRPr>
            </a:defPPr>
          </a:lstStyle>
          <a:p xmlns:a="http://schemas.openxmlformats.org/drawingml/2006/main">
            <a:pPr>
              <a:defRPr sz="1200" b="0">
                <a:solidFill>
                  <a:srgbClr val="C4D9DF"/>
                </a:solidFill>
                <a:latin typeface="Arial"/>
                <a:ea typeface="Arial"/>
                <a:cs typeface="Arial"/>
              </a:defRPr>
            </a:pPr>
            <a:r>
              <a:rPr sz="1200" b="0">
                <a:solidFill>
                  <a:srgbClr val="C4D9DF"/>
                </a:solidFill>
                <a:latin typeface="Arial"/>
                <a:ea typeface="Arial"/>
                <a:cs typeface="Arial"/>
              </a:rPr>
              <a:t>DỮ LIỆU RUNG EPSON</a:t>
            </a:r>
          </a:p>
        </p:txBody>
      </p:sp>
      <p:sp>
        <p:nvSpPr>
          <p:cNvPr id="2" name="">
            <a:extLst xmlns:a="http://schemas.openxmlformats.org/drawingml/2006/main">
              <a:ext uri="{FF2B5EF4-FFF2-40B4-BE49-F238E27FC236}">
                <a16:creationId xmlns:a16="http://schemas.microsoft.com/office/drawing/2014/main" id="{0D20A97E-A996-491A-9A02-670226285672}"/>
              </a:ext>
            </a:extLst>
          </p:cNvPr>
          <p:cNvSpPr>
            <a:spLocks xmlns:a="http://schemas.openxmlformats.org/drawingml/2006/main" noGrp="1"/>
          </p:cNvSpPr>
          <p:nvPr/>
        </p:nvSpPr>
        <p:spPr>
          <a:xfrm xmlns:a="http://schemas.openxmlformats.org/drawingml/2006/main">
            <a:off x="11087100" y="63817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C4D9DF"/>
                </a:solidFill>
                <a:latin typeface="Arial"/>
                <a:ea typeface="Arial"/>
                <a:cs typeface="Arial"/>
              </a:defRPr>
            </a:defPPr>
          </a:lstStyle>
          <a:p xmlns:a="http://schemas.openxmlformats.org/drawingml/2006/main">
            <a:pPr>
              <a:defRPr sz="1500" b="0">
                <a:solidFill>
                  <a:srgbClr val="C4D9DF"/>
                </a:solidFill>
                <a:latin typeface="Arial"/>
                <a:ea typeface="Arial"/>
                <a:cs typeface="Arial"/>
              </a:defRPr>
            </a:pPr>
            <a:r>
              <a:rPr sz="1500" b="0">
                <a:solidFill>
                  <a:srgbClr val="C4D9DF"/>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3393741-7B69-4BBC-B6B7-66A816F3F854}"/>
              </a:ext>
            </a:extLst>
          </p:cNvPr>
          <p:cNvSpPr>
            <a:spLocks xmlns:a="http://schemas.openxmlformats.org/drawingml/2006/main" noGrp="1"/>
          </p:cNvSpPr>
          <p:nvPr/>
        </p:nvSpPr>
        <p:spPr>
          <a:xfrm xmlns:a="http://schemas.openxmlformats.org/drawingml/2006/main">
            <a:off x="609600" y="1257300"/>
            <a:ext cx="109537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75" b="1">
                <a:solidFill>
                  <a:srgbClr val="FFFFFF"/>
                </a:solidFill>
                <a:latin typeface="Arial"/>
                <a:ea typeface="Arial"/>
                <a:cs typeface="Arial"/>
              </a:defRPr>
            </a:defPPr>
          </a:lstStyle>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TẠO DỮ LIỆU RUNG BẤT THƯỜNG</a:t>
            </a:r>
          </a:p>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ĐỂ HỖ TRỢ PHÁT HIỆN LỖI</a:t>
            </a:r>
          </a:p>
        </p:txBody>
      </p:sp>
      <p:sp>
        <p:nvSpPr>
          <p:cNvPr id="4" name="">
            <a:extLst xmlns:a="http://schemas.openxmlformats.org/drawingml/2006/main">
              <a:ext uri="{FF2B5EF4-FFF2-40B4-BE49-F238E27FC236}">
                <a16:creationId xmlns:a16="http://schemas.microsoft.com/office/drawing/2014/main" id="{14F77A42-368B-43C5-BE92-8D3E1567ED76}"/>
              </a:ext>
            </a:extLst>
          </p:cNvPr>
          <p:cNvSpPr>
            <a:spLocks xmlns:a="http://schemas.openxmlformats.org/drawingml/2006/main" noGrp="1"/>
          </p:cNvSpPr>
          <p:nvPr/>
        </p:nvSpPr>
        <p:spPr>
          <a:xfrm xmlns:a="http://schemas.openxmlformats.org/drawingml/2006/main">
            <a:off x="647700" y="34861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0">
                <a:solidFill>
                  <a:srgbClr val="C4D9DF"/>
                </a:solidFill>
                <a:latin typeface="Arial"/>
                <a:ea typeface="Arial"/>
                <a:cs typeface="Arial"/>
              </a:defRPr>
            </a:defPPr>
          </a:lstStyle>
          <a:p xmlns:a="http://schemas.openxmlformats.org/drawingml/2006/main">
            <a:pPr>
              <a:defRPr sz="2700" b="0">
                <a:solidFill>
                  <a:srgbClr val="C4D9DF"/>
                </a:solidFill>
                <a:latin typeface="Arial"/>
                <a:ea typeface="Arial"/>
                <a:cs typeface="Arial"/>
              </a:defRPr>
            </a:pPr>
            <a:r>
              <a:rPr sz="2700" b="0">
                <a:solidFill>
                  <a:srgbClr val="C4D9DF"/>
                </a:solidFill>
                <a:latin typeface="Arial"/>
                <a:ea typeface="Arial"/>
                <a:cs typeface="Arial"/>
              </a:rPr>
              <a:t>Thử nghiệm trên bộ dữ liệu Epson</a:t>
            </a:r>
          </a:p>
        </p:txBody>
      </p:sp>
      <p:sp>
        <p:nvSpPr>
          <p:cNvPr id="5" name="">
            <a:extLst xmlns:a="http://schemas.openxmlformats.org/drawingml/2006/main">
              <a:ext uri="{FF2B5EF4-FFF2-40B4-BE49-F238E27FC236}">
                <a16:creationId xmlns:a16="http://schemas.microsoft.com/office/drawing/2014/main" id="{03810705-F12B-471F-9F88-5B028EB23AAC}"/>
              </a:ext>
            </a:extLst>
          </p:cNvPr>
          <p:cNvSpPr>
            <a:spLocks xmlns:a="http://schemas.openxmlformats.org/drawingml/2006/main" noGrp="1"/>
          </p:cNvSpPr>
          <p:nvPr/>
        </p:nvSpPr>
        <p:spPr>
          <a:xfrm xmlns:a="http://schemas.openxmlformats.org/drawingml/2006/main">
            <a:off x="647700" y="50863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FFFFFF"/>
                </a:solidFill>
                <a:latin typeface="Arial"/>
                <a:ea typeface="Arial"/>
                <a:cs typeface="Arial"/>
              </a:defRPr>
            </a:def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Nguyen Tung Duong  -  Trường Phenikaa</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11.10.2026</a:t>
            </a:r>
          </a:p>
        </p:txBody>
      </p:sp>
    </p:spTree>
    <p:extLst>
      <p:ext uri="{BB962C8B-B14F-4D97-AF65-F5344CB8AC3E}">
        <p14:creationId xmlns:p14="http://schemas.microsoft.com/office/powerpoint/2010/main" val="8317362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75C3AE8-F5E2-4923-ABB2-A41ECCE02923}"/>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9354A"/>
                </a:solidFill>
                <a:latin typeface="Arial"/>
                <a:ea typeface="Arial"/>
                <a:cs typeface="Arial"/>
              </a:defRPr>
            </a:defPPr>
          </a:lstStyle>
          <a:p xmlns:a="http://schemas.openxmlformats.org/drawingml/2006/main">
            <a:pPr>
              <a:defRPr sz="3300" b="1">
                <a:solidFill>
                  <a:srgbClr val="19354A"/>
                </a:solidFill>
                <a:latin typeface="Arial"/>
                <a:ea typeface="Arial"/>
                <a:cs typeface="Arial"/>
              </a:defRPr>
            </a:pPr>
            <a:r>
              <a:rPr sz="3300" b="1">
                <a:solidFill>
                  <a:srgbClr val="19354A"/>
                </a:solidFill>
                <a:latin typeface="Arial"/>
                <a:ea typeface="Arial"/>
                <a:cs typeface="Arial"/>
              </a:rPr>
              <a:t>Dữ liệu lỗi ít có thể làm mô hình bỏ sót</a:t>
            </a:r>
          </a:p>
        </p:txBody>
      </p:sp>
      <p:sp>
        <p:nvSpPr>
          <p:cNvPr id="2" name="">
            <a:extLst xmlns:a="http://schemas.openxmlformats.org/drawingml/2006/main">
              <a:ext uri="{FF2B5EF4-FFF2-40B4-BE49-F238E27FC236}">
                <a16:creationId xmlns:a16="http://schemas.microsoft.com/office/drawing/2014/main" id="{1524BE78-AA7A-46BA-9709-9D8666BCEE73}"/>
              </a:ext>
            </a:extLst>
          </p:cNvPr>
          <p:cNvSpPr>
            <a:spLocks xmlns:a="http://schemas.openxmlformats.org/drawingml/2006/main" noGrp="1"/>
          </p:cNvSpPr>
          <p:nvPr/>
        </p:nvSpPr>
        <p:spPr>
          <a:xfrm xmlns:a="http://schemas.openxmlformats.org/drawingml/2006/main">
            <a:off x="609600" y="6410325"/>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571"/>
                </a:solidFill>
                <a:latin typeface="Arial"/>
                <a:ea typeface="Arial"/>
                <a:cs typeface="Arial"/>
              </a:defRPr>
            </a:defPPr>
          </a:lstStyle>
          <a:p xmlns:a="http://schemas.openxmlformats.org/drawingml/2006/main">
            <a:pPr>
              <a:defRPr sz="1200" b="0">
                <a:solidFill>
                  <a:srgbClr val="526571"/>
                </a:solidFill>
                <a:latin typeface="Arial"/>
                <a:ea typeface="Arial"/>
                <a:cs typeface="Arial"/>
              </a:defRPr>
            </a:pPr>
            <a:r>
              <a:rPr sz="1200" b="0">
                <a:solidFill>
                  <a:srgbClr val="526571"/>
                </a:solidFill>
                <a:latin typeface="Arial"/>
                <a:ea typeface="Arial"/>
                <a:cs typeface="Arial"/>
              </a:rPr>
              <a:t>DỮ LIỆU RUNG EPSON</a:t>
            </a:r>
          </a:p>
        </p:txBody>
      </p:sp>
      <p:sp>
        <p:nvSpPr>
          <p:cNvPr id="3" name="">
            <a:extLst xmlns:a="http://schemas.openxmlformats.org/drawingml/2006/main">
              <a:ext uri="{FF2B5EF4-FFF2-40B4-BE49-F238E27FC236}">
                <a16:creationId xmlns:a16="http://schemas.microsoft.com/office/drawing/2014/main" id="{BC3C241A-47D3-4591-954A-65CBEDDA8DDE}"/>
              </a:ext>
            </a:extLst>
          </p:cNvPr>
          <p:cNvSpPr>
            <a:spLocks xmlns:a="http://schemas.openxmlformats.org/drawingml/2006/main" noGrp="1"/>
          </p:cNvSpPr>
          <p:nvPr/>
        </p:nvSpPr>
        <p:spPr>
          <a:xfrm xmlns:a="http://schemas.openxmlformats.org/drawingml/2006/main">
            <a:off x="11087100" y="63817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571"/>
                </a:solidFill>
                <a:latin typeface="Arial"/>
                <a:ea typeface="Arial"/>
                <a:cs typeface="Arial"/>
              </a:defRPr>
            </a:defPPr>
          </a:lstStyle>
          <a:p xmlns:a="http://schemas.openxmlformats.org/drawingml/2006/main">
            <a:pPr>
              <a:defRPr sz="1500" b="0">
                <a:solidFill>
                  <a:srgbClr val="526571"/>
                </a:solidFill>
                <a:latin typeface="Arial"/>
                <a:ea typeface="Arial"/>
                <a:cs typeface="Arial"/>
              </a:defRPr>
            </a:pPr>
            <a:r>
              <a:rPr sz="1500" b="0">
                <a:solidFill>
                  <a:srgbClr val="526571"/>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38833E4D-A7EB-4011-AA10-37C1EB3F16A6}"/>
              </a:ext>
            </a:extLst>
          </p:cNvPr>
          <p:cNvSpPr>
            <a:spLocks xmlns:a="http://schemas.openxmlformats.org/drawingml/2006/main" noGrp="1"/>
          </p:cNvSpPr>
          <p:nvPr/>
        </p:nvSpPr>
        <p:spPr>
          <a:xfrm xmlns:a="http://schemas.openxmlformats.org/drawingml/2006/main">
            <a:off x="609600" y="17621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87E83"/>
                </a:solidFill>
                <a:latin typeface="Arial"/>
                <a:ea typeface="Arial"/>
                <a:cs typeface="Arial"/>
              </a:defRPr>
            </a:defPPr>
          </a:lstStyle>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5BF3440-71F3-4AD5-A314-F73EAD421C40}"/>
              </a:ext>
            </a:extLst>
          </p:cNvPr>
          <p:cNvSpPr>
            <a:spLocks xmlns:a="http://schemas.openxmlformats.org/drawingml/2006/main" noGrp="1"/>
          </p:cNvSpPr>
          <p:nvPr/>
        </p:nvSpPr>
        <p:spPr>
          <a:xfrm xmlns:a="http://schemas.openxmlformats.org/drawingml/2006/main">
            <a:off x="1447800" y="1762125"/>
            <a:ext cx="10048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9354A"/>
                </a:solidFill>
                <a:latin typeface="Arial"/>
                <a:ea typeface="Arial"/>
                <a:cs typeface="Arial"/>
              </a:defRPr>
            </a:defPPr>
          </a:lstStyle>
          <a:p xmlns:a="http://schemas.openxmlformats.org/drawingml/2006/main">
            <a:pPr>
              <a:defRPr sz="2325" b="0">
                <a:solidFill>
                  <a:srgbClr val="19354A"/>
                </a:solidFill>
                <a:latin typeface="Arial"/>
                <a:ea typeface="Arial"/>
                <a:cs typeface="Arial"/>
              </a:defRPr>
            </a:pPr>
            <a:r>
              <a:rPr sz="2325" b="0">
                <a:solidFill>
                  <a:srgbClr val="19354A"/>
                </a:solidFill>
                <a:latin typeface="Arial"/>
                <a:ea typeface="Arial"/>
                <a:cs typeface="Arial"/>
              </a:rPr>
              <a:t>Tín hiệu bình thường dễ thu hơn tín hiệu lỗi.</a:t>
            </a:r>
          </a:p>
        </p:txBody>
      </p:sp>
      <p:sp>
        <p:nvSpPr>
          <p:cNvPr id="6" name="">
            <a:extLst xmlns:a="http://schemas.openxmlformats.org/drawingml/2006/main">
              <a:ext uri="{FF2B5EF4-FFF2-40B4-BE49-F238E27FC236}">
                <a16:creationId xmlns:a16="http://schemas.microsoft.com/office/drawing/2014/main" id="{5A06F9B0-A92B-43E8-A22B-4F6C46F03D92}"/>
              </a:ext>
            </a:extLst>
          </p:cNvPr>
          <p:cNvSpPr>
            <a:spLocks xmlns:a="http://schemas.openxmlformats.org/drawingml/2006/main" noGrp="1"/>
          </p:cNvSpPr>
          <p:nvPr/>
        </p:nvSpPr>
        <p:spPr>
          <a:xfrm xmlns:a="http://schemas.openxmlformats.org/drawingml/2006/main">
            <a:off x="609600" y="30003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87E83"/>
                </a:solidFill>
                <a:latin typeface="Arial"/>
                <a:ea typeface="Arial"/>
                <a:cs typeface="Arial"/>
              </a:defRPr>
            </a:defPPr>
          </a:lstStyle>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A229AAE8-BDCB-474F-A02C-0448553DC906}"/>
              </a:ext>
            </a:extLst>
          </p:cNvPr>
          <p:cNvSpPr>
            <a:spLocks xmlns:a="http://schemas.openxmlformats.org/drawingml/2006/main" noGrp="1"/>
          </p:cNvSpPr>
          <p:nvPr/>
        </p:nvSpPr>
        <p:spPr>
          <a:xfrm xmlns:a="http://schemas.openxmlformats.org/drawingml/2006/main">
            <a:off x="1447800" y="3000375"/>
            <a:ext cx="10048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9354A"/>
                </a:solidFill>
                <a:latin typeface="Arial"/>
                <a:ea typeface="Arial"/>
                <a:cs typeface="Arial"/>
              </a:defRPr>
            </a:defPPr>
          </a:lstStyle>
          <a:p xmlns:a="http://schemas.openxmlformats.org/drawingml/2006/main">
            <a:pPr>
              <a:defRPr sz="2325" b="0">
                <a:solidFill>
                  <a:srgbClr val="19354A"/>
                </a:solidFill>
                <a:latin typeface="Arial"/>
                <a:ea typeface="Arial"/>
                <a:cs typeface="Arial"/>
              </a:defRPr>
            </a:pPr>
            <a:r>
              <a:rPr sz="2325" b="0">
                <a:solidFill>
                  <a:srgbClr val="19354A"/>
                </a:solidFill>
                <a:latin typeface="Arial"/>
                <a:ea typeface="Arial"/>
                <a:cs typeface="Arial"/>
              </a:rPr>
              <a:t>Dữ liệu bổ sung cần giữ được dấu hiệu bất thường.</a:t>
            </a:r>
          </a:p>
        </p:txBody>
      </p:sp>
      <p:sp>
        <p:nvSpPr>
          <p:cNvPr id="8" name="">
            <a:extLst xmlns:a="http://schemas.openxmlformats.org/drawingml/2006/main">
              <a:ext uri="{FF2B5EF4-FFF2-40B4-BE49-F238E27FC236}">
                <a16:creationId xmlns:a16="http://schemas.microsoft.com/office/drawing/2014/main" id="{4ADCA0C2-CEFD-4F99-A085-A4CA5C17D496}"/>
              </a:ext>
            </a:extLst>
          </p:cNvPr>
          <p:cNvSpPr>
            <a:spLocks xmlns:a="http://schemas.openxmlformats.org/drawingml/2006/main" noGrp="1"/>
          </p:cNvSpPr>
          <p:nvPr/>
        </p:nvSpPr>
        <p:spPr>
          <a:xfrm xmlns:a="http://schemas.openxmlformats.org/drawingml/2006/main">
            <a:off x="609600" y="42386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87E83"/>
                </a:solidFill>
                <a:latin typeface="Arial"/>
                <a:ea typeface="Arial"/>
                <a:cs typeface="Arial"/>
              </a:defRPr>
            </a:defPPr>
          </a:lstStyle>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BF004459-EC26-4D3F-8A47-B6A3272088CD}"/>
              </a:ext>
            </a:extLst>
          </p:cNvPr>
          <p:cNvSpPr>
            <a:spLocks xmlns:a="http://schemas.openxmlformats.org/drawingml/2006/main" noGrp="1"/>
          </p:cNvSpPr>
          <p:nvPr/>
        </p:nvSpPr>
        <p:spPr>
          <a:xfrm xmlns:a="http://schemas.openxmlformats.org/drawingml/2006/main">
            <a:off x="1447800" y="4238625"/>
            <a:ext cx="10048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9354A"/>
                </a:solidFill>
                <a:latin typeface="Arial"/>
                <a:ea typeface="Arial"/>
                <a:cs typeface="Arial"/>
              </a:defRPr>
            </a:defPPr>
          </a:lstStyle>
          <a:p xmlns:a="http://schemas.openxmlformats.org/drawingml/2006/main">
            <a:pPr>
              <a:defRPr sz="2325" b="0">
                <a:solidFill>
                  <a:srgbClr val="19354A"/>
                </a:solidFill>
                <a:latin typeface="Arial"/>
                <a:ea typeface="Arial"/>
                <a:cs typeface="Arial"/>
              </a:defRPr>
            </a:pPr>
            <a:r>
              <a:rPr sz="2325" b="0">
                <a:solidFill>
                  <a:srgbClr val="19354A"/>
                </a:solidFill>
                <a:latin typeface="Arial"/>
                <a:ea typeface="Arial"/>
                <a:cs typeface="Arial"/>
              </a:rPr>
              <a:t>Đo hiệu quả trên dữ liệu thật giữ riêng.</a:t>
            </a:r>
          </a:p>
        </p:txBody>
      </p:sp>
    </p:spTree>
    <p:extLst>
      <p:ext uri="{BB962C8B-B14F-4D97-AF65-F5344CB8AC3E}">
        <p14:creationId xmlns:p14="http://schemas.microsoft.com/office/powerpoint/2010/main" val="19890878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50C047-7CC0-4F34-A607-DCD635D263A9}"/>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9354A"/>
                </a:solidFill>
                <a:latin typeface="Arial"/>
                <a:ea typeface="Arial"/>
                <a:cs typeface="Arial"/>
              </a:defRPr>
            </a:defPPr>
          </a:lstStyle>
          <a:p xmlns:a="http://schemas.openxmlformats.org/drawingml/2006/main">
            <a:pPr>
              <a:defRPr sz="3300" b="1">
                <a:solidFill>
                  <a:srgbClr val="19354A"/>
                </a:solidFill>
                <a:latin typeface="Arial"/>
                <a:ea typeface="Arial"/>
                <a:cs typeface="Arial"/>
              </a:defRPr>
            </a:pPr>
            <a:r>
              <a:rPr sz="3300" b="1">
                <a:solidFill>
                  <a:srgbClr val="19354A"/>
                </a:solidFill>
                <a:latin typeface="Arial"/>
                <a:ea typeface="Arial"/>
                <a:cs typeface="Arial"/>
              </a:rPr>
              <a:t>Dữ liệu và hai mức thiếu mẫu lỗi</a:t>
            </a:r>
          </a:p>
        </p:txBody>
      </p:sp>
      <p:sp>
        <p:nvSpPr>
          <p:cNvPr id="2" name="">
            <a:extLst xmlns:a="http://schemas.openxmlformats.org/drawingml/2006/main">
              <a:ext uri="{FF2B5EF4-FFF2-40B4-BE49-F238E27FC236}">
                <a16:creationId xmlns:a16="http://schemas.microsoft.com/office/drawing/2014/main" id="{5326889E-011E-4D2F-9AC0-0174FE226DA1}"/>
              </a:ext>
            </a:extLst>
          </p:cNvPr>
          <p:cNvSpPr>
            <a:spLocks xmlns:a="http://schemas.openxmlformats.org/drawingml/2006/main" noGrp="1"/>
          </p:cNvSpPr>
          <p:nvPr/>
        </p:nvSpPr>
        <p:spPr>
          <a:xfrm xmlns:a="http://schemas.openxmlformats.org/drawingml/2006/main">
            <a:off x="609600" y="6410325"/>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571"/>
                </a:solidFill>
                <a:latin typeface="Arial"/>
                <a:ea typeface="Arial"/>
                <a:cs typeface="Arial"/>
              </a:defRPr>
            </a:defPPr>
          </a:lstStyle>
          <a:p xmlns:a="http://schemas.openxmlformats.org/drawingml/2006/main">
            <a:pPr>
              <a:defRPr sz="1200" b="0">
                <a:solidFill>
                  <a:srgbClr val="526571"/>
                </a:solidFill>
                <a:latin typeface="Arial"/>
                <a:ea typeface="Arial"/>
                <a:cs typeface="Arial"/>
              </a:defRPr>
            </a:pPr>
            <a:r>
              <a:rPr sz="1200" b="0">
                <a:solidFill>
                  <a:srgbClr val="526571"/>
                </a:solidFill>
                <a:latin typeface="Arial"/>
                <a:ea typeface="Arial"/>
                <a:cs typeface="Arial"/>
              </a:rPr>
              <a:t>DỮ LIỆU RUNG EPSON</a:t>
            </a:r>
          </a:p>
        </p:txBody>
      </p:sp>
      <p:sp>
        <p:nvSpPr>
          <p:cNvPr id="3" name="">
            <a:extLst xmlns:a="http://schemas.openxmlformats.org/drawingml/2006/main">
              <a:ext uri="{FF2B5EF4-FFF2-40B4-BE49-F238E27FC236}">
                <a16:creationId xmlns:a16="http://schemas.microsoft.com/office/drawing/2014/main" id="{D9412F54-BE11-4961-B11C-EFA13414CD45}"/>
              </a:ext>
            </a:extLst>
          </p:cNvPr>
          <p:cNvSpPr>
            <a:spLocks xmlns:a="http://schemas.openxmlformats.org/drawingml/2006/main" noGrp="1"/>
          </p:cNvSpPr>
          <p:nvPr/>
        </p:nvSpPr>
        <p:spPr>
          <a:xfrm xmlns:a="http://schemas.openxmlformats.org/drawingml/2006/main">
            <a:off x="11087100" y="63817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571"/>
                </a:solidFill>
                <a:latin typeface="Arial"/>
                <a:ea typeface="Arial"/>
                <a:cs typeface="Arial"/>
              </a:defRPr>
            </a:defPPr>
          </a:lstStyle>
          <a:p xmlns:a="http://schemas.openxmlformats.org/drawingml/2006/main">
            <a:pPr>
              <a:defRPr sz="1500" b="0">
                <a:solidFill>
                  <a:srgbClr val="526571"/>
                </a:solidFill>
                <a:latin typeface="Arial"/>
                <a:ea typeface="Arial"/>
                <a:cs typeface="Arial"/>
              </a:defRPr>
            </a:pPr>
            <a:r>
              <a:rPr sz="1500" b="0">
                <a:solidFill>
                  <a:srgbClr val="526571"/>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132E03FC-1AC4-4AA6-ABA6-D1CC44D20E3A}"/>
              </a:ext>
            </a:extLst>
          </p:cNvPr>
          <p:cNvGraphicFramePr/>
          <p:nvPr/>
        </p:nvGraphicFramePr>
        <p:xfrm>
          <a:off xmlns:a="http://schemas.openxmlformats.org/drawingml/2006/main" x="609600" y="1743075"/>
          <a:ext xmlns:a="http://schemas.openxmlformats.org/drawingml/2006/main" cx="10972800" cy="3238500"/>
        </p:xfrm>
        <a:graphic xmlns:a="http://schemas.openxmlformats.org/drawingml/2006/main">
          <a:graphicData uri="http://schemas.openxmlformats.org/drawingml/2006/table">
            <a:tbl>
              <a:tblPr/>
              <a:tblGrid>
                <a:gridCol w="3295650"/>
                <a:gridCol w="7677150"/>
              </a:tblGrid>
              <a:tr h="809625">
                <a:tc>
                  <a:txBody>
                    <a:bodyPr/>
                    <a:lstStyle/>
                    <a:p>
                      <a:r>
                        <a:rPr sz="2025" b="1">
                          <a:solidFill>
                            <a:srgbClr val="FFFFFF"/>
                          </a:solidFill>
                          <a:latin typeface="Arial"/>
                          <a:ea typeface="Arial"/>
                          <a:cs typeface="Arial"/>
                        </a:rPr>
                        <a:t>Thông tin</a:t>
                      </a:r>
                    </a:p>
                  </a:txBody>
                  <a:tcPr marL="152400" marR="152400" marT="114300" marB="114300" anchor="ctr">
                    <a:solidFill>
                      <a:srgbClr val="19354A"/>
                    </a:solidFill>
                  </a:tcPr>
                </a:tc>
                <a:tc>
                  <a:txBody>
                    <a:bodyPr/>
                    <a:lstStyle/>
                    <a:p>
                      <a:r>
                        <a:rPr sz="2025" b="1">
                          <a:solidFill>
                            <a:srgbClr val="FFFFFF"/>
                          </a:solidFill>
                          <a:latin typeface="Arial"/>
                          <a:ea typeface="Arial"/>
                          <a:cs typeface="Arial"/>
                        </a:rPr>
                        <a:t>Thiết lập</a:t>
                      </a:r>
                    </a:p>
                  </a:txBody>
                  <a:tcPr marL="152400" marR="152400" marT="114300" marB="114300" anchor="ctr">
                    <a:solidFill>
                      <a:srgbClr val="19354A"/>
                    </a:solidFill>
                  </a:tcPr>
                </a:tc>
              </a:tr>
              <a:tr h="809625">
                <a:tc>
                  <a:txBody>
                    <a:bodyPr/>
                    <a:lstStyle/>
                    <a:p>
                      <a:r>
                        <a:rPr sz="2025" b="0">
                          <a:solidFill>
                            <a:srgbClr val="19354A"/>
                          </a:solidFill>
                          <a:latin typeface="Arial"/>
                          <a:ea typeface="Arial"/>
                          <a:cs typeface="Arial"/>
                        </a:rPr>
                        <a:t>Tín hiệu</a:t>
                      </a:r>
                    </a:p>
                  </a:txBody>
                  <a:tcPr marL="152400" marR="152400" marT="114300" marB="114300" anchor="ctr">
                    <a:solidFill>
                      <a:srgbClr val="F0F5F6"/>
                    </a:solidFill>
                  </a:tcPr>
                </a:tc>
                <a:tc>
                  <a:txBody>
                    <a:bodyPr/>
                    <a:lstStyle/>
                    <a:p>
                      <a:r>
                        <a:rPr sz="2025" b="0">
                          <a:solidFill>
                            <a:srgbClr val="19354A"/>
                          </a:solidFill>
                          <a:latin typeface="Arial"/>
                          <a:ea typeface="Arial"/>
                          <a:cs typeface="Arial"/>
                        </a:rPr>
                        <a:t>XYZ · 3.000 Hz · vận tốc rung mm/s</a:t>
                      </a:r>
                    </a:p>
                  </a:txBody>
                  <a:tcPr marL="152400" marR="152400" marT="114300" marB="114300" anchor="ctr">
                    <a:solidFill>
                      <a:srgbClr val="F0F5F6"/>
                    </a:solidFill>
                  </a:tcPr>
                </a:tc>
              </a:tr>
              <a:tr h="809625">
                <a:tc>
                  <a:txBody>
                    <a:bodyPr/>
                    <a:lstStyle/>
                    <a:p>
                      <a:r>
                        <a:rPr sz="2025" b="0">
                          <a:solidFill>
                            <a:srgbClr val="19354A"/>
                          </a:solidFill>
                          <a:latin typeface="Arial"/>
                          <a:ea typeface="Arial"/>
                          <a:cs typeface="Arial"/>
                        </a:rPr>
                        <a:t>Trạng thái</a:t>
                      </a:r>
                    </a:p>
                  </a:txBody>
                  <a:tcPr marL="152400" marR="152400" marT="114300" marB="114300" anchor="ctr">
                    <a:solidFill>
                      <a:srgbClr val="FFFFFF"/>
                    </a:solidFill>
                  </a:tcPr>
                </a:tc>
                <a:tc>
                  <a:txBody>
                    <a:bodyPr/>
                    <a:lstStyle/>
                    <a:p>
                      <a:r>
                        <a:rPr sz="2025" b="0">
                          <a:solidFill>
                            <a:srgbClr val="19354A"/>
                          </a:solidFill>
                          <a:latin typeface="Arial"/>
                          <a:ea typeface="Arial"/>
                          <a:cs typeface="Arial"/>
                        </a:rPr>
                        <a:t>1 bình thường + 5 cấu hình mất cân bằng</a:t>
                      </a:r>
                    </a:p>
                  </a:txBody>
                  <a:tcPr marL="152400" marR="152400" marT="114300" marB="114300" anchor="ctr">
                    <a:solidFill>
                      <a:srgbClr val="FFFFFF"/>
                    </a:solidFill>
                  </a:tcPr>
                </a:tc>
              </a:tr>
              <a:tr h="809625">
                <a:tc>
                  <a:txBody>
                    <a:bodyPr/>
                    <a:lstStyle/>
                    <a:p>
                      <a:r>
                        <a:rPr sz="2025" b="0">
                          <a:solidFill>
                            <a:srgbClr val="19354A"/>
                          </a:solidFill>
                          <a:latin typeface="Arial"/>
                          <a:ea typeface="Arial"/>
                          <a:cs typeface="Arial"/>
                        </a:rPr>
                        <a:t>k1 / k4</a:t>
                      </a:r>
                    </a:p>
                  </a:txBody>
                  <a:tcPr marL="152400" marR="152400" marT="114300" marB="114300" anchor="ctr">
                    <a:solidFill>
                      <a:srgbClr val="F0F5F6"/>
                    </a:solidFill>
                  </a:tcPr>
                </a:tc>
                <a:tc>
                  <a:txBody>
                    <a:bodyPr/>
                    <a:lstStyle/>
                    <a:p>
                      <a:r>
                        <a:rPr sz="2025" b="0">
                          <a:solidFill>
                            <a:srgbClr val="19354A"/>
                          </a:solidFill>
                          <a:latin typeface="Arial"/>
                          <a:ea typeface="Arial"/>
                          <a:cs typeface="Arial"/>
                        </a:rPr>
                        <a:t>1 / 4 bản ghi lỗi mỗi lớp để huấn luyện</a:t>
                      </a:r>
                    </a:p>
                  </a:txBody>
                  <a:tcPr marL="152400" marR="152400" marT="114300" marB="114300" anchor="ctr">
                    <a:solidFill>
                      <a:srgbClr val="F0F5F6"/>
                    </a:solidFill>
                  </a:tcPr>
                </a:tc>
              </a:tr>
            </a:tbl>
          </a:graphicData>
        </a:graphic>
      </p:graphicFrame>
      <p:sp>
        <p:nvSpPr>
          <p:cNvPr id="5" name="">
            <a:extLst xmlns:a="http://schemas.openxmlformats.org/drawingml/2006/main">
              <a:ext uri="{FF2B5EF4-FFF2-40B4-BE49-F238E27FC236}">
                <a16:creationId xmlns:a16="http://schemas.microsoft.com/office/drawing/2014/main" id="{DDF331EF-B4C9-4219-BF3F-631F9CEB8315}"/>
              </a:ext>
            </a:extLst>
          </p:cNvPr>
          <p:cNvSpPr>
            <a:spLocks xmlns:a="http://schemas.openxmlformats.org/drawingml/2006/main" noGrp="1"/>
          </p:cNvSpPr>
          <p:nvPr/>
        </p:nvSpPr>
        <p:spPr>
          <a:xfrm xmlns:a="http://schemas.openxmlformats.org/drawingml/2006/main">
            <a:off x="609600" y="54292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087E83"/>
                </a:solidFill>
                <a:latin typeface="Arial"/>
                <a:ea typeface="Arial"/>
                <a:cs typeface="Arial"/>
              </a:defRPr>
            </a:defPPr>
          </a:lstStyle>
          <a:p xmlns:a="http://schemas.openxmlformats.org/drawingml/2006/main">
            <a:pPr>
              <a:defRPr sz="2025" b="0">
                <a:solidFill>
                  <a:srgbClr val="087E83"/>
                </a:solidFill>
                <a:latin typeface="Arial"/>
                <a:ea typeface="Arial"/>
                <a:cs typeface="Arial"/>
              </a:defRPr>
            </a:pPr>
            <a:r>
              <a:rPr sz="2025" b="0">
                <a:solidFill>
                  <a:srgbClr val="087E83"/>
                </a:solidFill>
                <a:latin typeface="Arial"/>
                <a:ea typeface="Arial"/>
                <a:cs typeface="Arial"/>
              </a:rPr>
              <a:t>Mỗi đầu vào: 1 giây × 3 kênh. Giữ 8 bản ghi bình thường ở cả k1 và k4.</a:t>
            </a:r>
          </a:p>
        </p:txBody>
      </p:sp>
    </p:spTree>
    <p:extLst>
      <p:ext uri="{BB962C8B-B14F-4D97-AF65-F5344CB8AC3E}">
        <p14:creationId xmlns:p14="http://schemas.microsoft.com/office/powerpoint/2010/main" val="11074355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988DE19-FA5D-4A2F-8F13-5D6CA4691E67}"/>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9354A"/>
                </a:solidFill>
                <a:latin typeface="Arial"/>
                <a:ea typeface="Arial"/>
                <a:cs typeface="Arial"/>
              </a:defRPr>
            </a:defPPr>
          </a:lstStyle>
          <a:p xmlns:a="http://schemas.openxmlformats.org/drawingml/2006/main">
            <a:pPr>
              <a:defRPr sz="3300" b="1">
                <a:solidFill>
                  <a:srgbClr val="19354A"/>
                </a:solidFill>
                <a:latin typeface="Arial"/>
                <a:ea typeface="Arial"/>
                <a:cs typeface="Arial"/>
              </a:defRPr>
            </a:pPr>
            <a:r>
              <a:rPr sz="3300" b="1">
                <a:solidFill>
                  <a:srgbClr val="19354A"/>
                </a:solidFill>
                <a:latin typeface="Arial"/>
                <a:ea typeface="Arial"/>
                <a:cs typeface="Arial"/>
              </a:rPr>
              <a:t>cVAE tạo một đoạn tín hiệu như thế nào</a:t>
            </a:r>
          </a:p>
        </p:txBody>
      </p:sp>
      <p:sp>
        <p:nvSpPr>
          <p:cNvPr id="2" name="">
            <a:extLst xmlns:a="http://schemas.openxmlformats.org/drawingml/2006/main">
              <a:ext uri="{FF2B5EF4-FFF2-40B4-BE49-F238E27FC236}">
                <a16:creationId xmlns:a16="http://schemas.microsoft.com/office/drawing/2014/main" id="{F1846FC2-DED9-4BB1-B5D1-15F5667F66DA}"/>
              </a:ext>
            </a:extLst>
          </p:cNvPr>
          <p:cNvSpPr>
            <a:spLocks xmlns:a="http://schemas.openxmlformats.org/drawingml/2006/main" noGrp="1"/>
          </p:cNvSpPr>
          <p:nvPr/>
        </p:nvSpPr>
        <p:spPr>
          <a:xfrm xmlns:a="http://schemas.openxmlformats.org/drawingml/2006/main">
            <a:off x="609600" y="6410325"/>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571"/>
                </a:solidFill>
                <a:latin typeface="Arial"/>
                <a:ea typeface="Arial"/>
                <a:cs typeface="Arial"/>
              </a:defRPr>
            </a:defPPr>
          </a:lstStyle>
          <a:p xmlns:a="http://schemas.openxmlformats.org/drawingml/2006/main">
            <a:pPr>
              <a:defRPr sz="1200" b="0">
                <a:solidFill>
                  <a:srgbClr val="526571"/>
                </a:solidFill>
                <a:latin typeface="Arial"/>
                <a:ea typeface="Arial"/>
                <a:cs typeface="Arial"/>
              </a:defRPr>
            </a:pPr>
            <a:r>
              <a:rPr sz="1200" b="0">
                <a:solidFill>
                  <a:srgbClr val="526571"/>
                </a:solidFill>
                <a:latin typeface="Arial"/>
                <a:ea typeface="Arial"/>
                <a:cs typeface="Arial"/>
              </a:rPr>
              <a:t>DỮ LIỆU RUNG EPSON</a:t>
            </a:r>
          </a:p>
        </p:txBody>
      </p:sp>
      <p:sp>
        <p:nvSpPr>
          <p:cNvPr id="3" name="">
            <a:extLst xmlns:a="http://schemas.openxmlformats.org/drawingml/2006/main">
              <a:ext uri="{FF2B5EF4-FFF2-40B4-BE49-F238E27FC236}">
                <a16:creationId xmlns:a16="http://schemas.microsoft.com/office/drawing/2014/main" id="{7EA164D8-C467-4BC3-A7BE-63AE1739C6C8}"/>
              </a:ext>
            </a:extLst>
          </p:cNvPr>
          <p:cNvSpPr>
            <a:spLocks xmlns:a="http://schemas.openxmlformats.org/drawingml/2006/main" noGrp="1"/>
          </p:cNvSpPr>
          <p:nvPr/>
        </p:nvSpPr>
        <p:spPr>
          <a:xfrm xmlns:a="http://schemas.openxmlformats.org/drawingml/2006/main">
            <a:off x="11087100" y="63817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571"/>
                </a:solidFill>
                <a:latin typeface="Arial"/>
                <a:ea typeface="Arial"/>
                <a:cs typeface="Arial"/>
              </a:defRPr>
            </a:defPPr>
          </a:lstStyle>
          <a:p xmlns:a="http://schemas.openxmlformats.org/drawingml/2006/main">
            <a:pPr>
              <a:defRPr sz="1500" b="0">
                <a:solidFill>
                  <a:srgbClr val="526571"/>
                </a:solidFill>
                <a:latin typeface="Arial"/>
                <a:ea typeface="Arial"/>
                <a:cs typeface="Arial"/>
              </a:defRPr>
            </a:pPr>
            <a:r>
              <a:rPr sz="1500" b="0">
                <a:solidFill>
                  <a:srgbClr val="526571"/>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D471CAC9-657C-435C-98C4-5DCC8EAC28AE}"/>
              </a:ext>
            </a:extLst>
          </p:cNvPr>
          <p:cNvSpPr>
            <a:spLocks xmlns:a="http://schemas.openxmlformats.org/drawingml/2006/main" noGrp="1"/>
          </p:cNvSpPr>
          <p:nvPr/>
        </p:nvSpPr>
        <p:spPr>
          <a:xfrm xmlns:a="http://schemas.openxmlformats.org/drawingml/2006/main">
            <a:off x="609600" y="17621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87E83"/>
                </a:solidFill>
                <a:latin typeface="Arial"/>
                <a:ea typeface="Arial"/>
                <a:cs typeface="Arial"/>
              </a:defRPr>
            </a:defPPr>
          </a:lstStyle>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70EE15FE-3AAB-43E7-AFAC-52F8D2842338}"/>
              </a:ext>
            </a:extLst>
          </p:cNvPr>
          <p:cNvSpPr>
            <a:spLocks xmlns:a="http://schemas.openxmlformats.org/drawingml/2006/main" noGrp="1"/>
          </p:cNvSpPr>
          <p:nvPr/>
        </p:nvSpPr>
        <p:spPr>
          <a:xfrm xmlns:a="http://schemas.openxmlformats.org/drawingml/2006/main">
            <a:off x="1447800" y="1762125"/>
            <a:ext cx="10048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9354A"/>
                </a:solidFill>
                <a:latin typeface="Arial"/>
                <a:ea typeface="Arial"/>
                <a:cs typeface="Arial"/>
              </a:defRPr>
            </a:defPPr>
          </a:lstStyle>
          <a:p xmlns:a="http://schemas.openxmlformats.org/drawingml/2006/main">
            <a:pPr>
              <a:defRPr sz="2325" b="0">
                <a:solidFill>
                  <a:srgbClr val="19354A"/>
                </a:solidFill>
                <a:latin typeface="Arial"/>
                <a:ea typeface="Arial"/>
                <a:cs typeface="Arial"/>
              </a:defRPr>
            </a:pPr>
            <a:r>
              <a:rPr sz="2325" b="0">
                <a:solidFill>
                  <a:srgbClr val="19354A"/>
                </a:solidFill>
                <a:latin typeface="Arial"/>
                <a:ea typeface="Arial"/>
                <a:cs typeface="Arial"/>
              </a:rPr>
              <a:t>Học từ đoạn tín hiệu thật và nhãn của đoạn đó.</a:t>
            </a:r>
          </a:p>
        </p:txBody>
      </p:sp>
      <p:sp>
        <p:nvSpPr>
          <p:cNvPr id="6" name="">
            <a:extLst xmlns:a="http://schemas.openxmlformats.org/drawingml/2006/main">
              <a:ext uri="{FF2B5EF4-FFF2-40B4-BE49-F238E27FC236}">
                <a16:creationId xmlns:a16="http://schemas.microsoft.com/office/drawing/2014/main" id="{C8A44AAA-C619-43FF-9AEC-F94343063C46}"/>
              </a:ext>
            </a:extLst>
          </p:cNvPr>
          <p:cNvSpPr>
            <a:spLocks xmlns:a="http://schemas.openxmlformats.org/drawingml/2006/main" noGrp="1"/>
          </p:cNvSpPr>
          <p:nvPr/>
        </p:nvSpPr>
        <p:spPr>
          <a:xfrm xmlns:a="http://schemas.openxmlformats.org/drawingml/2006/main">
            <a:off x="609600" y="30003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87E83"/>
                </a:solidFill>
                <a:latin typeface="Arial"/>
                <a:ea typeface="Arial"/>
                <a:cs typeface="Arial"/>
              </a:defRPr>
            </a:defPPr>
          </a:lstStyle>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B4FC095E-5886-4840-B721-9AF8A08C509C}"/>
              </a:ext>
            </a:extLst>
          </p:cNvPr>
          <p:cNvSpPr>
            <a:spLocks xmlns:a="http://schemas.openxmlformats.org/drawingml/2006/main" noGrp="1"/>
          </p:cNvSpPr>
          <p:nvPr/>
        </p:nvSpPr>
        <p:spPr>
          <a:xfrm xmlns:a="http://schemas.openxmlformats.org/drawingml/2006/main">
            <a:off x="1447800" y="3000375"/>
            <a:ext cx="10048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9354A"/>
                </a:solidFill>
                <a:latin typeface="Arial"/>
                <a:ea typeface="Arial"/>
                <a:cs typeface="Arial"/>
              </a:defRPr>
            </a:defPPr>
          </a:lstStyle>
          <a:p xmlns:a="http://schemas.openxmlformats.org/drawingml/2006/main">
            <a:pPr>
              <a:defRPr sz="2325" b="0">
                <a:solidFill>
                  <a:srgbClr val="19354A"/>
                </a:solidFill>
                <a:latin typeface="Arial"/>
                <a:ea typeface="Arial"/>
                <a:cs typeface="Arial"/>
              </a:defRPr>
            </a:pPr>
            <a:r>
              <a:rPr sz="2325" b="0">
                <a:solidFill>
                  <a:srgbClr val="19354A"/>
                </a:solidFill>
                <a:latin typeface="Arial"/>
                <a:ea typeface="Arial"/>
                <a:cs typeface="Arial"/>
              </a:rPr>
              <a:t>Khi sinh: nhận vector ngẫu nhiên và nhãn lỗi.</a:t>
            </a:r>
          </a:p>
        </p:txBody>
      </p:sp>
      <p:sp>
        <p:nvSpPr>
          <p:cNvPr id="8" name="">
            <a:extLst xmlns:a="http://schemas.openxmlformats.org/drawingml/2006/main">
              <a:ext uri="{FF2B5EF4-FFF2-40B4-BE49-F238E27FC236}">
                <a16:creationId xmlns:a16="http://schemas.microsoft.com/office/drawing/2014/main" id="{EBCB597D-8675-4958-85B1-FE0BDAC6C93B}"/>
              </a:ext>
            </a:extLst>
          </p:cNvPr>
          <p:cNvSpPr>
            <a:spLocks xmlns:a="http://schemas.openxmlformats.org/drawingml/2006/main" noGrp="1"/>
          </p:cNvSpPr>
          <p:nvPr/>
        </p:nvSpPr>
        <p:spPr>
          <a:xfrm xmlns:a="http://schemas.openxmlformats.org/drawingml/2006/main">
            <a:off x="609600" y="42386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87E83"/>
                </a:solidFill>
                <a:latin typeface="Arial"/>
                <a:ea typeface="Arial"/>
                <a:cs typeface="Arial"/>
              </a:defRPr>
            </a:defPPr>
          </a:lstStyle>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89F1F2D7-23BF-47DE-80A9-C8E34997E823}"/>
              </a:ext>
            </a:extLst>
          </p:cNvPr>
          <p:cNvSpPr>
            <a:spLocks xmlns:a="http://schemas.openxmlformats.org/drawingml/2006/main" noGrp="1"/>
          </p:cNvSpPr>
          <p:nvPr/>
        </p:nvSpPr>
        <p:spPr>
          <a:xfrm xmlns:a="http://schemas.openxmlformats.org/drawingml/2006/main">
            <a:off x="1447800" y="4238625"/>
            <a:ext cx="10048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9354A"/>
                </a:solidFill>
                <a:latin typeface="Arial"/>
                <a:ea typeface="Arial"/>
                <a:cs typeface="Arial"/>
              </a:defRPr>
            </a:defPPr>
          </a:lstStyle>
          <a:p xmlns:a="http://schemas.openxmlformats.org/drawingml/2006/main">
            <a:pPr>
              <a:defRPr sz="2325" b="0">
                <a:solidFill>
                  <a:srgbClr val="19354A"/>
                </a:solidFill>
                <a:latin typeface="Arial"/>
                <a:ea typeface="Arial"/>
                <a:cs typeface="Arial"/>
              </a:defRPr>
            </a:pPr>
            <a:r>
              <a:rPr sz="2325" b="0">
                <a:solidFill>
                  <a:srgbClr val="19354A"/>
                </a:solidFill>
                <a:latin typeface="Arial"/>
                <a:ea typeface="Arial"/>
                <a:cs typeface="Arial"/>
              </a:rPr>
              <a:t>Trả về XYZ dài 1 giây, gồm 3 × 3.000 điểm.</a:t>
            </a:r>
          </a:p>
        </p:txBody>
      </p:sp>
      <p:sp>
        <p:nvSpPr>
          <p:cNvPr id="10" name="">
            <a:extLst xmlns:a="http://schemas.openxmlformats.org/drawingml/2006/main">
              <a:ext uri="{FF2B5EF4-FFF2-40B4-BE49-F238E27FC236}">
                <a16:creationId xmlns:a16="http://schemas.microsoft.com/office/drawing/2014/main" id="{F7F2D7C2-409B-40DE-B351-7BE6C1082D48}"/>
              </a:ext>
            </a:extLst>
          </p:cNvPr>
          <p:cNvSpPr>
            <a:spLocks xmlns:a="http://schemas.openxmlformats.org/drawingml/2006/main" noGrp="1"/>
          </p:cNvSpPr>
          <p:nvPr/>
        </p:nvSpPr>
        <p:spPr>
          <a:xfrm xmlns:a="http://schemas.openxmlformats.org/drawingml/2006/main">
            <a:off x="609600" y="57626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571"/>
                </a:solidFill>
                <a:latin typeface="Arial"/>
                <a:ea typeface="Arial"/>
                <a:cs typeface="Arial"/>
              </a:defRPr>
            </a:defPPr>
          </a:lstStyle>
          <a:p xmlns:a="http://schemas.openxmlformats.org/drawingml/2006/main">
            <a:pPr>
              <a:defRPr sz="1875" b="0">
                <a:solidFill>
                  <a:srgbClr val="526571"/>
                </a:solidFill>
                <a:latin typeface="Arial"/>
                <a:ea typeface="Arial"/>
                <a:cs typeface="Arial"/>
              </a:defRPr>
            </a:pPr>
            <a:r>
              <a:rPr sz="1875" b="0">
                <a:solidFill>
                  <a:srgbClr val="526571"/>
                </a:solidFill>
                <a:latin typeface="Arial"/>
                <a:ea typeface="Arial"/>
                <a:cs typeface="Arial"/>
              </a:rPr>
              <a:t>Nhãn lỗi chọn từ các cấu hình đã có trong dữ liệu huấn luyện.</a:t>
            </a:r>
          </a:p>
        </p:txBody>
      </p:sp>
    </p:spTree>
    <p:extLst>
      <p:ext uri="{BB962C8B-B14F-4D97-AF65-F5344CB8AC3E}">
        <p14:creationId xmlns:p14="http://schemas.microsoft.com/office/powerpoint/2010/main" val="20724415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4BD7D0E-85EE-4F43-95FB-CC4085988DE7}"/>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9354A"/>
                </a:solidFill>
                <a:latin typeface="Arial"/>
                <a:ea typeface="Arial"/>
                <a:cs typeface="Arial"/>
              </a:defRPr>
            </a:defPPr>
          </a:lstStyle>
          <a:p xmlns:a="http://schemas.openxmlformats.org/drawingml/2006/main">
            <a:pPr>
              <a:defRPr sz="3300" b="1">
                <a:solidFill>
                  <a:srgbClr val="19354A"/>
                </a:solidFill>
                <a:latin typeface="Arial"/>
                <a:ea typeface="Arial"/>
                <a:cs typeface="Arial"/>
              </a:defRPr>
            </a:pPr>
            <a:r>
              <a:rPr sz="3300" b="1">
                <a:solidFill>
                  <a:srgbClr val="19354A"/>
                </a:solidFill>
                <a:latin typeface="Arial"/>
                <a:ea typeface="Arial"/>
                <a:cs typeface="Arial"/>
              </a:rPr>
              <a:t>So sánh với ba cách chuẩn bị dữ liệu</a:t>
            </a:r>
          </a:p>
        </p:txBody>
      </p:sp>
      <p:sp>
        <p:nvSpPr>
          <p:cNvPr id="2" name="">
            <a:extLst xmlns:a="http://schemas.openxmlformats.org/drawingml/2006/main">
              <a:ext uri="{FF2B5EF4-FFF2-40B4-BE49-F238E27FC236}">
                <a16:creationId xmlns:a16="http://schemas.microsoft.com/office/drawing/2014/main" id="{BA9D6002-A71F-4ACA-8559-F84B8A25D0FA}"/>
              </a:ext>
            </a:extLst>
          </p:cNvPr>
          <p:cNvSpPr>
            <a:spLocks xmlns:a="http://schemas.openxmlformats.org/drawingml/2006/main" noGrp="1"/>
          </p:cNvSpPr>
          <p:nvPr/>
        </p:nvSpPr>
        <p:spPr>
          <a:xfrm xmlns:a="http://schemas.openxmlformats.org/drawingml/2006/main">
            <a:off x="609600" y="6410325"/>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571"/>
                </a:solidFill>
                <a:latin typeface="Arial"/>
                <a:ea typeface="Arial"/>
                <a:cs typeface="Arial"/>
              </a:defRPr>
            </a:defPPr>
          </a:lstStyle>
          <a:p xmlns:a="http://schemas.openxmlformats.org/drawingml/2006/main">
            <a:pPr>
              <a:defRPr sz="1200" b="0">
                <a:solidFill>
                  <a:srgbClr val="526571"/>
                </a:solidFill>
                <a:latin typeface="Arial"/>
                <a:ea typeface="Arial"/>
                <a:cs typeface="Arial"/>
              </a:defRPr>
            </a:pPr>
            <a:r>
              <a:rPr sz="1200" b="0">
                <a:solidFill>
                  <a:srgbClr val="526571"/>
                </a:solidFill>
                <a:latin typeface="Arial"/>
                <a:ea typeface="Arial"/>
                <a:cs typeface="Arial"/>
              </a:rPr>
              <a:t>DỮ LIỆU RUNG EPSON</a:t>
            </a:r>
          </a:p>
        </p:txBody>
      </p:sp>
      <p:sp>
        <p:nvSpPr>
          <p:cNvPr id="3" name="">
            <a:extLst xmlns:a="http://schemas.openxmlformats.org/drawingml/2006/main">
              <a:ext uri="{FF2B5EF4-FFF2-40B4-BE49-F238E27FC236}">
                <a16:creationId xmlns:a16="http://schemas.microsoft.com/office/drawing/2014/main" id="{9986FB3F-FFCF-4B8A-A011-250327DD1772}"/>
              </a:ext>
            </a:extLst>
          </p:cNvPr>
          <p:cNvSpPr>
            <a:spLocks xmlns:a="http://schemas.openxmlformats.org/drawingml/2006/main" noGrp="1"/>
          </p:cNvSpPr>
          <p:nvPr/>
        </p:nvSpPr>
        <p:spPr>
          <a:xfrm xmlns:a="http://schemas.openxmlformats.org/drawingml/2006/main">
            <a:off x="11087100" y="63817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571"/>
                </a:solidFill>
                <a:latin typeface="Arial"/>
                <a:ea typeface="Arial"/>
                <a:cs typeface="Arial"/>
              </a:defRPr>
            </a:defPPr>
          </a:lstStyle>
          <a:p xmlns:a="http://schemas.openxmlformats.org/drawingml/2006/main">
            <a:pPr>
              <a:defRPr sz="1500" b="0">
                <a:solidFill>
                  <a:srgbClr val="526571"/>
                </a:solidFill>
                <a:latin typeface="Arial"/>
                <a:ea typeface="Arial"/>
                <a:cs typeface="Arial"/>
              </a:defRPr>
            </a:pPr>
            <a:r>
              <a:rPr sz="1500" b="0">
                <a:solidFill>
                  <a:srgbClr val="526571"/>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244A9759-4711-4DD9-BC5E-96AA893161D9}"/>
              </a:ext>
            </a:extLst>
          </p:cNvPr>
          <p:cNvGraphicFramePr/>
          <p:nvPr/>
        </p:nvGraphicFramePr>
        <p:xfrm>
          <a:off xmlns:a="http://schemas.openxmlformats.org/drawingml/2006/main" x="609600" y="1647825"/>
          <a:ext xmlns:a="http://schemas.openxmlformats.org/drawingml/2006/main" cx="10972800" cy="3857625"/>
        </p:xfrm>
        <a:graphic xmlns:a="http://schemas.openxmlformats.org/drawingml/2006/main">
          <a:graphicData uri="http://schemas.openxmlformats.org/drawingml/2006/table">
            <a:tbl>
              <a:tblPr/>
              <a:tblGrid>
                <a:gridCol w="4162425"/>
                <a:gridCol w="6810375"/>
              </a:tblGrid>
              <a:tr h="771525">
                <a:tc>
                  <a:txBody>
                    <a:bodyPr/>
                    <a:lstStyle/>
                    <a:p>
                      <a:r>
                        <a:rPr sz="1950" b="1">
                          <a:solidFill>
                            <a:srgbClr val="FFFFFF"/>
                          </a:solidFill>
                          <a:latin typeface="Arial"/>
                          <a:ea typeface="Arial"/>
                          <a:cs typeface="Arial"/>
                        </a:rPr>
                        <a:t>Phương án</a:t>
                      </a:r>
                    </a:p>
                  </a:txBody>
                  <a:tcPr marL="152400" marR="152400" marT="114300" marB="114300" anchor="ctr">
                    <a:solidFill>
                      <a:srgbClr val="19354A"/>
                    </a:solidFill>
                  </a:tcPr>
                </a:tc>
                <a:tc>
                  <a:txBody>
                    <a:bodyPr/>
                    <a:lstStyle/>
                    <a:p>
                      <a:r>
                        <a:rPr sz="1950" b="1">
                          <a:solidFill>
                            <a:srgbClr val="FFFFFF"/>
                          </a:solidFill>
                          <a:latin typeface="Arial"/>
                          <a:ea typeface="Arial"/>
                          <a:cs typeface="Arial"/>
                        </a:rPr>
                        <a:t>Dữ liệu thêm vào</a:t>
                      </a:r>
                    </a:p>
                  </a:txBody>
                  <a:tcPr marL="152400" marR="152400" marT="114300" marB="114300" anchor="ctr">
                    <a:solidFill>
                      <a:srgbClr val="19354A"/>
                    </a:solidFill>
                  </a:tcPr>
                </a:tc>
              </a:tr>
              <a:tr h="771525">
                <a:tc>
                  <a:txBody>
                    <a:bodyPr/>
                    <a:lstStyle/>
                    <a:p>
                      <a:r>
                        <a:rPr sz="1950" b="0">
                          <a:solidFill>
                            <a:srgbClr val="19354A"/>
                          </a:solidFill>
                          <a:latin typeface="Arial"/>
                          <a:ea typeface="Arial"/>
                          <a:cs typeface="Arial"/>
                        </a:rPr>
                        <a:t>Chỉ dùng dữ liệu thật</a:t>
                      </a:r>
                    </a:p>
                  </a:txBody>
                  <a:tcPr marL="152400" marR="152400" marT="114300" marB="114300" anchor="ctr">
                    <a:solidFill>
                      <a:srgbClr val="F0F5F6"/>
                    </a:solidFill>
                  </a:tcPr>
                </a:tc>
                <a:tc>
                  <a:txBody>
                    <a:bodyPr/>
                    <a:lstStyle/>
                    <a:p>
                      <a:r>
                        <a:rPr sz="1950" b="0">
                          <a:solidFill>
                            <a:srgbClr val="19354A"/>
                          </a:solidFill>
                          <a:latin typeface="Arial"/>
                          <a:ea typeface="Arial"/>
                          <a:cs typeface="Arial"/>
                        </a:rPr>
                        <a:t>Không thêm</a:t>
                      </a:r>
                    </a:p>
                  </a:txBody>
                  <a:tcPr marL="152400" marR="152400" marT="114300" marB="114300" anchor="ctr">
                    <a:solidFill>
                      <a:srgbClr val="F0F5F6"/>
                    </a:solidFill>
                  </a:tcPr>
                </a:tc>
              </a:tr>
              <a:tr h="771525">
                <a:tc>
                  <a:txBody>
                    <a:bodyPr/>
                    <a:lstStyle/>
                    <a:p>
                      <a:r>
                        <a:rPr sz="1950" b="0">
                          <a:solidFill>
                            <a:srgbClr val="19354A"/>
                          </a:solidFill>
                          <a:latin typeface="Arial"/>
                          <a:ea typeface="Arial"/>
                          <a:cs typeface="Arial"/>
                        </a:rPr>
                        <a:t>Lặp lại mẫu thật</a:t>
                      </a:r>
                    </a:p>
                  </a:txBody>
                  <a:tcPr marL="152400" marR="152400" marT="114300" marB="114300" anchor="ctr">
                    <a:solidFill>
                      <a:srgbClr val="FFFFFF"/>
                    </a:solidFill>
                  </a:tcPr>
                </a:tc>
                <a:tc>
                  <a:txBody>
                    <a:bodyPr/>
                    <a:lstStyle/>
                    <a:p>
                      <a:r>
                        <a:rPr sz="1950" b="0">
                          <a:solidFill>
                            <a:srgbClr val="19354A"/>
                          </a:solidFill>
                          <a:latin typeface="Arial"/>
                          <a:ea typeface="Arial"/>
                          <a:cs typeface="Arial"/>
                        </a:rPr>
                        <a:t>Lấy lại các đoạn đã có</a:t>
                      </a:r>
                    </a:p>
                  </a:txBody>
                  <a:tcPr marL="152400" marR="152400" marT="114300" marB="114300" anchor="ctr">
                    <a:solidFill>
                      <a:srgbClr val="FFFFFF"/>
                    </a:solidFill>
                  </a:tcPr>
                </a:tc>
              </a:tr>
              <a:tr h="771525">
                <a:tc>
                  <a:txBody>
                    <a:bodyPr/>
                    <a:lstStyle/>
                    <a:p>
                      <a:r>
                        <a:rPr sz="1950" b="0">
                          <a:solidFill>
                            <a:srgbClr val="19354A"/>
                          </a:solidFill>
                          <a:latin typeface="Arial"/>
                          <a:ea typeface="Arial"/>
                          <a:cs typeface="Arial"/>
                        </a:rPr>
                        <a:t>Tăng cường đơn giản</a:t>
                      </a:r>
                    </a:p>
                  </a:txBody>
                  <a:tcPr marL="152400" marR="152400" marT="114300" marB="114300" anchor="ctr">
                    <a:solidFill>
                      <a:srgbClr val="F0F5F6"/>
                    </a:solidFill>
                  </a:tcPr>
                </a:tc>
                <a:tc>
                  <a:txBody>
                    <a:bodyPr/>
                    <a:lstStyle/>
                    <a:p>
                      <a:r>
                        <a:rPr sz="1950" b="0">
                          <a:solidFill>
                            <a:srgbClr val="19354A"/>
                          </a:solidFill>
                          <a:latin typeface="Arial"/>
                          <a:ea typeface="Arial"/>
                          <a:cs typeface="Arial"/>
                        </a:rPr>
                        <a:t>Đổi biên độ và dịch vòng XYZ</a:t>
                      </a:r>
                    </a:p>
                  </a:txBody>
                  <a:tcPr marL="152400" marR="152400" marT="114300" marB="114300" anchor="ctr">
                    <a:solidFill>
                      <a:srgbClr val="F0F5F6"/>
                    </a:solidFill>
                  </a:tcPr>
                </a:tc>
              </a:tr>
              <a:tr h="771525">
                <a:tc>
                  <a:txBody>
                    <a:bodyPr/>
                    <a:lstStyle/>
                    <a:p>
                      <a:r>
                        <a:rPr sz="1950" b="0">
                          <a:solidFill>
                            <a:srgbClr val="19354A"/>
                          </a:solidFill>
                          <a:latin typeface="Arial"/>
                          <a:ea typeface="Arial"/>
                          <a:cs typeface="Arial"/>
                        </a:rPr>
                        <a:t>Sinh bằng cVAE</a:t>
                      </a:r>
                    </a:p>
                  </a:txBody>
                  <a:tcPr marL="152400" marR="152400" marT="114300" marB="114300" anchor="ctr">
                    <a:solidFill>
                      <a:srgbClr val="FFFFFF"/>
                    </a:solidFill>
                  </a:tcPr>
                </a:tc>
                <a:tc>
                  <a:txBody>
                    <a:bodyPr/>
                    <a:lstStyle/>
                    <a:p>
                      <a:r>
                        <a:rPr sz="1950" b="0">
                          <a:solidFill>
                            <a:srgbClr val="19354A"/>
                          </a:solidFill>
                          <a:latin typeface="Arial"/>
                          <a:ea typeface="Arial"/>
                          <a:cs typeface="Arial"/>
                        </a:rPr>
                        <a:t>Tạo mẫu mới theo nhãn lỗi</a:t>
                      </a:r>
                    </a:p>
                  </a:txBody>
                  <a:tcPr marL="152400" marR="152400" marT="114300" marB="1143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9C8B9C8-E8A2-48D9-B920-001EDD0FA2A5}"/>
              </a:ext>
            </a:extLst>
          </p:cNvPr>
          <p:cNvSpPr>
            <a:spLocks xmlns:a="http://schemas.openxmlformats.org/drawingml/2006/main" noGrp="1"/>
          </p:cNvSpPr>
          <p:nvPr/>
        </p:nvSpPr>
        <p:spPr>
          <a:xfrm xmlns:a="http://schemas.openxmlformats.org/drawingml/2006/main">
            <a:off x="609600" y="57435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087E83"/>
                </a:solidFill>
                <a:latin typeface="Arial"/>
                <a:ea typeface="Arial"/>
                <a:cs typeface="Arial"/>
              </a:defRPr>
            </a:defPPr>
          </a:lstStyle>
          <a:p xmlns:a="http://schemas.openxmlformats.org/drawingml/2006/main">
            <a:pPr>
              <a:defRPr sz="1800" b="0">
                <a:solidFill>
                  <a:srgbClr val="087E83"/>
                </a:solidFill>
                <a:latin typeface="Arial"/>
                <a:ea typeface="Arial"/>
                <a:cs typeface="Arial"/>
              </a:defRPr>
            </a:pPr>
            <a:r>
              <a:rPr sz="1800" b="0">
                <a:solidFill>
                  <a:srgbClr val="087E83"/>
                </a:solidFill>
                <a:latin typeface="Arial"/>
                <a:ea typeface="Arial"/>
                <a:cs typeface="Arial"/>
              </a:rPr>
              <a:t>Cùng mô hình phát hiện, cùng số bước cập nhật; cùng số mẫu thêm ở 3 nhánh.</a:t>
            </a:r>
          </a:p>
        </p:txBody>
      </p:sp>
    </p:spTree>
    <p:extLst>
      <p:ext uri="{BB962C8B-B14F-4D97-AF65-F5344CB8AC3E}">
        <p14:creationId xmlns:p14="http://schemas.microsoft.com/office/powerpoint/2010/main" val="16814655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9BC7EC-7434-46CE-BBC3-F4F1879AB995}"/>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9354A"/>
                </a:solidFill>
                <a:latin typeface="Arial"/>
                <a:ea typeface="Arial"/>
                <a:cs typeface="Arial"/>
              </a:defRPr>
            </a:defPPr>
          </a:lstStyle>
          <a:p xmlns:a="http://schemas.openxmlformats.org/drawingml/2006/main">
            <a:pPr>
              <a:defRPr sz="3300" b="1">
                <a:solidFill>
                  <a:srgbClr val="19354A"/>
                </a:solidFill>
                <a:latin typeface="Arial"/>
                <a:ea typeface="Arial"/>
                <a:cs typeface="Arial"/>
              </a:defRPr>
            </a:pPr>
            <a:r>
              <a:rPr sz="3300" b="1">
                <a:solidFill>
                  <a:srgbClr val="19354A"/>
                </a:solidFill>
                <a:latin typeface="Arial"/>
                <a:ea typeface="Arial"/>
                <a:cs typeface="Arial"/>
              </a:rPr>
              <a:t>Tách dữ liệu trước khi cắt thành đoạn</a:t>
            </a:r>
          </a:p>
        </p:txBody>
      </p:sp>
      <p:sp>
        <p:nvSpPr>
          <p:cNvPr id="2" name="">
            <a:extLst xmlns:a="http://schemas.openxmlformats.org/drawingml/2006/main">
              <a:ext uri="{FF2B5EF4-FFF2-40B4-BE49-F238E27FC236}">
                <a16:creationId xmlns:a16="http://schemas.microsoft.com/office/drawing/2014/main" id="{303C2F14-42D6-42B9-969A-4B715445142B}"/>
              </a:ext>
            </a:extLst>
          </p:cNvPr>
          <p:cNvSpPr>
            <a:spLocks xmlns:a="http://schemas.openxmlformats.org/drawingml/2006/main" noGrp="1"/>
          </p:cNvSpPr>
          <p:nvPr/>
        </p:nvSpPr>
        <p:spPr>
          <a:xfrm xmlns:a="http://schemas.openxmlformats.org/drawingml/2006/main">
            <a:off x="609600" y="6410325"/>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571"/>
                </a:solidFill>
                <a:latin typeface="Arial"/>
                <a:ea typeface="Arial"/>
                <a:cs typeface="Arial"/>
              </a:defRPr>
            </a:defPPr>
          </a:lstStyle>
          <a:p xmlns:a="http://schemas.openxmlformats.org/drawingml/2006/main">
            <a:pPr>
              <a:defRPr sz="1200" b="0">
                <a:solidFill>
                  <a:srgbClr val="526571"/>
                </a:solidFill>
                <a:latin typeface="Arial"/>
                <a:ea typeface="Arial"/>
                <a:cs typeface="Arial"/>
              </a:defRPr>
            </a:pPr>
            <a:r>
              <a:rPr sz="1200" b="0">
                <a:solidFill>
                  <a:srgbClr val="526571"/>
                </a:solidFill>
                <a:latin typeface="Arial"/>
                <a:ea typeface="Arial"/>
                <a:cs typeface="Arial"/>
              </a:rPr>
              <a:t>DỮ LIỆU RUNG EPSON</a:t>
            </a:r>
          </a:p>
        </p:txBody>
      </p:sp>
      <p:sp>
        <p:nvSpPr>
          <p:cNvPr id="3" name="">
            <a:extLst xmlns:a="http://schemas.openxmlformats.org/drawingml/2006/main">
              <a:ext uri="{FF2B5EF4-FFF2-40B4-BE49-F238E27FC236}">
                <a16:creationId xmlns:a16="http://schemas.microsoft.com/office/drawing/2014/main" id="{81B4D5A4-E275-4C88-885F-D19369D78E3D}"/>
              </a:ext>
            </a:extLst>
          </p:cNvPr>
          <p:cNvSpPr>
            <a:spLocks xmlns:a="http://schemas.openxmlformats.org/drawingml/2006/main" noGrp="1"/>
          </p:cNvSpPr>
          <p:nvPr/>
        </p:nvSpPr>
        <p:spPr>
          <a:xfrm xmlns:a="http://schemas.openxmlformats.org/drawingml/2006/main">
            <a:off x="11087100" y="63817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571"/>
                </a:solidFill>
                <a:latin typeface="Arial"/>
                <a:ea typeface="Arial"/>
                <a:cs typeface="Arial"/>
              </a:defRPr>
            </a:defPPr>
          </a:lstStyle>
          <a:p xmlns:a="http://schemas.openxmlformats.org/drawingml/2006/main">
            <a:pPr>
              <a:defRPr sz="1500" b="0">
                <a:solidFill>
                  <a:srgbClr val="526571"/>
                </a:solidFill>
                <a:latin typeface="Arial"/>
                <a:ea typeface="Arial"/>
                <a:cs typeface="Arial"/>
              </a:defRPr>
            </a:pPr>
            <a:r>
              <a:rPr sz="1500" b="0">
                <a:solidFill>
                  <a:srgbClr val="526571"/>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92CAD537-34E5-4F81-964E-09E3C4C5C547}"/>
              </a:ext>
            </a:extLst>
          </p:cNvPr>
          <p:cNvGraphicFramePr/>
          <p:nvPr/>
        </p:nvGraphicFramePr>
        <p:xfrm>
          <a:off xmlns:a="http://schemas.openxmlformats.org/drawingml/2006/main" x="609600" y="1743075"/>
          <a:ext xmlns:a="http://schemas.openxmlformats.org/drawingml/2006/main" cx="10972800" cy="3190875"/>
        </p:xfrm>
        <a:graphic xmlns:a="http://schemas.openxmlformats.org/drawingml/2006/main">
          <a:graphicData uri="http://schemas.openxmlformats.org/drawingml/2006/table">
            <a:tbl>
              <a:tblPr/>
              <a:tblGrid>
                <a:gridCol w="2333625"/>
                <a:gridCol w="3714750"/>
                <a:gridCol w="4924425"/>
              </a:tblGrid>
              <a:tr h="797719">
                <a:tc>
                  <a:txBody>
                    <a:bodyPr/>
                    <a:lstStyle/>
                    <a:p>
                      <a:r>
                        <a:rPr sz="1950" b="1">
                          <a:solidFill>
                            <a:srgbClr val="FFFFFF"/>
                          </a:solidFill>
                          <a:latin typeface="Arial"/>
                          <a:ea typeface="Arial"/>
                          <a:cs typeface="Arial"/>
                        </a:rPr>
                        <a:t>Tập</a:t>
                      </a:r>
                    </a:p>
                  </a:txBody>
                  <a:tcPr marL="152400" marR="152400" marT="114300" marB="114300" anchor="ctr">
                    <a:solidFill>
                      <a:srgbClr val="19354A"/>
                    </a:solidFill>
                  </a:tcPr>
                </a:tc>
                <a:tc>
                  <a:txBody>
                    <a:bodyPr/>
                    <a:lstStyle/>
                    <a:p>
                      <a:r>
                        <a:rPr sz="1950" b="1">
                          <a:solidFill>
                            <a:srgbClr val="FFFFFF"/>
                          </a:solidFill>
                          <a:latin typeface="Arial"/>
                          <a:ea typeface="Arial"/>
                          <a:cs typeface="Arial"/>
                        </a:rPr>
                        <a:t>Số bản ghi</a:t>
                      </a:r>
                    </a:p>
                  </a:txBody>
                  <a:tcPr marL="152400" marR="152400" marT="114300" marB="114300" anchor="ctr">
                    <a:solidFill>
                      <a:srgbClr val="19354A"/>
                    </a:solidFill>
                  </a:tcPr>
                </a:tc>
                <a:tc>
                  <a:txBody>
                    <a:bodyPr/>
                    <a:lstStyle/>
                    <a:p>
                      <a:r>
                        <a:rPr sz="1950" b="1">
                          <a:solidFill>
                            <a:srgbClr val="FFFFFF"/>
                          </a:solidFill>
                          <a:latin typeface="Arial"/>
                          <a:ea typeface="Arial"/>
                          <a:cs typeface="Arial"/>
                        </a:rPr>
                        <a:t>Dùng để</a:t>
                      </a:r>
                    </a:p>
                  </a:txBody>
                  <a:tcPr marL="152400" marR="152400" marT="114300" marB="114300" anchor="ctr">
                    <a:solidFill>
                      <a:srgbClr val="19354A"/>
                    </a:solidFill>
                  </a:tcPr>
                </a:tc>
              </a:tr>
              <a:tr h="797719">
                <a:tc>
                  <a:txBody>
                    <a:bodyPr/>
                    <a:lstStyle/>
                    <a:p>
                      <a:r>
                        <a:rPr sz="1950" b="0">
                          <a:solidFill>
                            <a:srgbClr val="19354A"/>
                          </a:solidFill>
                          <a:latin typeface="Arial"/>
                          <a:ea typeface="Arial"/>
                          <a:cs typeface="Arial"/>
                        </a:rPr>
                        <a:t>Huấn luyện</a:t>
                      </a:r>
                    </a:p>
                  </a:txBody>
                  <a:tcPr marL="152400" marR="152400" marT="114300" marB="114300" anchor="ctr">
                    <a:solidFill>
                      <a:srgbClr val="F0F5F6"/>
                    </a:solidFill>
                  </a:tcPr>
                </a:tc>
                <a:tc>
                  <a:txBody>
                    <a:bodyPr/>
                    <a:lstStyle/>
                    <a:p>
                      <a:r>
                        <a:rPr sz="1950" b="0">
                          <a:solidFill>
                            <a:srgbClr val="19354A"/>
                          </a:solidFill>
                          <a:latin typeface="Arial"/>
                          <a:ea typeface="Arial"/>
                          <a:cs typeface="Arial"/>
                        </a:rPr>
                        <a:t>48 trước khi chọn k1/k4</a:t>
                      </a:r>
                    </a:p>
                  </a:txBody>
                  <a:tcPr marL="152400" marR="152400" marT="114300" marB="114300" anchor="ctr">
                    <a:solidFill>
                      <a:srgbClr val="F0F5F6"/>
                    </a:solidFill>
                  </a:tcPr>
                </a:tc>
                <a:tc>
                  <a:txBody>
                    <a:bodyPr/>
                    <a:lstStyle/>
                    <a:p>
                      <a:r>
                        <a:rPr sz="1950" b="0">
                          <a:solidFill>
                            <a:srgbClr val="19354A"/>
                          </a:solidFill>
                          <a:latin typeface="Arial"/>
                          <a:ea typeface="Arial"/>
                          <a:cs typeface="Arial"/>
                        </a:rPr>
                        <a:t>Học mô hình và chuẩn hóa</a:t>
                      </a:r>
                    </a:p>
                  </a:txBody>
                  <a:tcPr marL="152400" marR="152400" marT="114300" marB="114300" anchor="ctr">
                    <a:solidFill>
                      <a:srgbClr val="F0F5F6"/>
                    </a:solidFill>
                  </a:tcPr>
                </a:tc>
              </a:tr>
              <a:tr h="797719">
                <a:tc>
                  <a:txBody>
                    <a:bodyPr/>
                    <a:lstStyle/>
                    <a:p>
                      <a:r>
                        <a:rPr sz="1950" b="0">
                          <a:solidFill>
                            <a:srgbClr val="19354A"/>
                          </a:solidFill>
                          <a:latin typeface="Arial"/>
                          <a:ea typeface="Arial"/>
                          <a:cs typeface="Arial"/>
                        </a:rPr>
                        <a:t>Chọn mô hình</a:t>
                      </a:r>
                    </a:p>
                  </a:txBody>
                  <a:tcPr marL="152400" marR="152400" marT="114300" marB="114300" anchor="ctr">
                    <a:solidFill>
                      <a:srgbClr val="FFFFFF"/>
                    </a:solidFill>
                  </a:tcPr>
                </a:tc>
                <a:tc>
                  <a:txBody>
                    <a:bodyPr/>
                    <a:lstStyle/>
                    <a:p>
                      <a:r>
                        <a:rPr sz="1950" b="0">
                          <a:solidFill>
                            <a:srgbClr val="19354A"/>
                          </a:solidFill>
                          <a:latin typeface="Arial"/>
                          <a:ea typeface="Arial"/>
                          <a:cs typeface="Arial"/>
                        </a:rPr>
                        <a:t>24</a:t>
                      </a:r>
                    </a:p>
                  </a:txBody>
                  <a:tcPr marL="152400" marR="152400" marT="114300" marB="114300" anchor="ctr">
                    <a:solidFill>
                      <a:srgbClr val="FFFFFF"/>
                    </a:solidFill>
                  </a:tcPr>
                </a:tc>
                <a:tc>
                  <a:txBody>
                    <a:bodyPr/>
                    <a:lstStyle/>
                    <a:p>
                      <a:r>
                        <a:rPr sz="1950" b="0">
                          <a:solidFill>
                            <a:srgbClr val="19354A"/>
                          </a:solidFill>
                          <a:latin typeface="Arial"/>
                          <a:ea typeface="Arial"/>
                          <a:cs typeface="Arial"/>
                        </a:rPr>
                        <a:t>Chọn trọng số và ngưỡng</a:t>
                      </a:r>
                    </a:p>
                  </a:txBody>
                  <a:tcPr marL="152400" marR="152400" marT="114300" marB="114300" anchor="ctr">
                    <a:solidFill>
                      <a:srgbClr val="FFFFFF"/>
                    </a:solidFill>
                  </a:tcPr>
                </a:tc>
              </a:tr>
              <a:tr h="797719">
                <a:tc>
                  <a:txBody>
                    <a:bodyPr/>
                    <a:lstStyle/>
                    <a:p>
                      <a:r>
                        <a:rPr sz="1950" b="0">
                          <a:solidFill>
                            <a:srgbClr val="19354A"/>
                          </a:solidFill>
                          <a:latin typeface="Arial"/>
                          <a:ea typeface="Arial"/>
                          <a:cs typeface="Arial"/>
                        </a:rPr>
                        <a:t>Kiểm tra</a:t>
                      </a:r>
                    </a:p>
                  </a:txBody>
                  <a:tcPr marL="152400" marR="152400" marT="114300" marB="114300" anchor="ctr">
                    <a:solidFill>
                      <a:srgbClr val="F0F5F6"/>
                    </a:solidFill>
                  </a:tcPr>
                </a:tc>
                <a:tc>
                  <a:txBody>
                    <a:bodyPr/>
                    <a:lstStyle/>
                    <a:p>
                      <a:r>
                        <a:rPr sz="1950" b="0">
                          <a:solidFill>
                            <a:srgbClr val="19354A"/>
                          </a:solidFill>
                          <a:latin typeface="Arial"/>
                          <a:ea typeface="Arial"/>
                          <a:cs typeface="Arial"/>
                        </a:rPr>
                        <a:t>24</a:t>
                      </a:r>
                    </a:p>
                  </a:txBody>
                  <a:tcPr marL="152400" marR="152400" marT="114300" marB="114300" anchor="ctr">
                    <a:solidFill>
                      <a:srgbClr val="F0F5F6"/>
                    </a:solidFill>
                  </a:tcPr>
                </a:tc>
                <a:tc>
                  <a:txBody>
                    <a:bodyPr/>
                    <a:lstStyle/>
                    <a:p>
                      <a:r>
                        <a:rPr sz="1950" b="0">
                          <a:solidFill>
                            <a:srgbClr val="19354A"/>
                          </a:solidFill>
                          <a:latin typeface="Arial"/>
                          <a:ea typeface="Arial"/>
                          <a:cs typeface="Arial"/>
                        </a:rPr>
                        <a:t>Đánh giá kết quả cuối</a:t>
                      </a:r>
                    </a:p>
                  </a:txBody>
                  <a:tcPr marL="152400" marR="152400" marT="114300" marB="114300" anchor="ctr">
                    <a:solidFill>
                      <a:srgbClr val="F0F5F6"/>
                    </a:solidFill>
                  </a:tcPr>
                </a:tc>
              </a:tr>
            </a:tbl>
          </a:graphicData>
        </a:graphic>
      </p:graphicFrame>
      <p:sp>
        <p:nvSpPr>
          <p:cNvPr id="5" name="">
            <a:extLst xmlns:a="http://schemas.openxmlformats.org/drawingml/2006/main">
              <a:ext uri="{FF2B5EF4-FFF2-40B4-BE49-F238E27FC236}">
                <a16:creationId xmlns:a16="http://schemas.microsoft.com/office/drawing/2014/main" id="{0DA2A682-1284-4C05-A2B3-3FB0DCC8FCC5}"/>
              </a:ext>
            </a:extLst>
          </p:cNvPr>
          <p:cNvSpPr>
            <a:spLocks xmlns:a="http://schemas.openxmlformats.org/drawingml/2006/main" noGrp="1"/>
          </p:cNvSpPr>
          <p:nvPr/>
        </p:nvSpPr>
        <p:spPr>
          <a:xfrm xmlns:a="http://schemas.openxmlformats.org/drawingml/2006/main">
            <a:off x="609600" y="5372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087E83"/>
                </a:solidFill>
                <a:latin typeface="Arial"/>
                <a:ea typeface="Arial"/>
                <a:cs typeface="Arial"/>
              </a:defRPr>
            </a:defPPr>
          </a:lstStyle>
          <a:p xmlns:a="http://schemas.openxmlformats.org/drawingml/2006/main">
            <a:pPr>
              <a:defRPr sz="1950" b="0">
                <a:solidFill>
                  <a:srgbClr val="087E83"/>
                </a:solidFill>
                <a:latin typeface="Arial"/>
                <a:ea typeface="Arial"/>
                <a:cs typeface="Arial"/>
              </a:defRPr>
            </a:pPr>
            <a:r>
              <a:rPr sz="1950" b="0">
                <a:solidFill>
                  <a:srgbClr val="087E83"/>
                </a:solidFill>
                <a:latin typeface="Arial"/>
                <a:ea typeface="Arial"/>
                <a:cs typeface="Arial"/>
              </a:rPr>
              <a:t>Tập kiểm tra: 20 bất thường + 4 bình thường. Bảng kết quả gộp theo bản ghi.</a:t>
            </a:r>
          </a:p>
        </p:txBody>
      </p:sp>
    </p:spTree>
    <p:extLst>
      <p:ext uri="{BB962C8B-B14F-4D97-AF65-F5344CB8AC3E}">
        <p14:creationId xmlns:p14="http://schemas.microsoft.com/office/powerpoint/2010/main" val="11832908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0C42D0-7997-4FDE-950A-ADE2A2C127E3}"/>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9354A"/>
                </a:solidFill>
                <a:latin typeface="Arial"/>
                <a:ea typeface="Arial"/>
                <a:cs typeface="Arial"/>
              </a:defRPr>
            </a:defPPr>
          </a:lstStyle>
          <a:p xmlns:a="http://schemas.openxmlformats.org/drawingml/2006/main">
            <a:pPr>
              <a:defRPr sz="3300" b="1">
                <a:solidFill>
                  <a:srgbClr val="19354A"/>
                </a:solidFill>
                <a:latin typeface="Arial"/>
                <a:ea typeface="Arial"/>
                <a:cs typeface="Arial"/>
              </a:defRPr>
            </a:pPr>
            <a:r>
              <a:rPr sz="3300" b="1">
                <a:solidFill>
                  <a:srgbClr val="19354A"/>
                </a:solidFill>
                <a:latin typeface="Arial"/>
                <a:ea typeface="Arial"/>
                <a:cs typeface="Arial"/>
              </a:rPr>
              <a:t>cVAE tăng phát hiện ở k1, nhưng tăng báo nhầm</a:t>
            </a:r>
          </a:p>
        </p:txBody>
      </p:sp>
      <p:sp>
        <p:nvSpPr>
          <p:cNvPr id="2" name="">
            <a:extLst xmlns:a="http://schemas.openxmlformats.org/drawingml/2006/main">
              <a:ext uri="{FF2B5EF4-FFF2-40B4-BE49-F238E27FC236}">
                <a16:creationId xmlns:a16="http://schemas.microsoft.com/office/drawing/2014/main" id="{092816A9-AF0D-4B0C-A3EC-94044D0F9A0D}"/>
              </a:ext>
            </a:extLst>
          </p:cNvPr>
          <p:cNvSpPr>
            <a:spLocks xmlns:a="http://schemas.openxmlformats.org/drawingml/2006/main" noGrp="1"/>
          </p:cNvSpPr>
          <p:nvPr/>
        </p:nvSpPr>
        <p:spPr>
          <a:xfrm xmlns:a="http://schemas.openxmlformats.org/drawingml/2006/main">
            <a:off x="609600" y="6410325"/>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571"/>
                </a:solidFill>
                <a:latin typeface="Arial"/>
                <a:ea typeface="Arial"/>
                <a:cs typeface="Arial"/>
              </a:defRPr>
            </a:defPPr>
          </a:lstStyle>
          <a:p xmlns:a="http://schemas.openxmlformats.org/drawingml/2006/main">
            <a:pPr>
              <a:defRPr sz="1200" b="0">
                <a:solidFill>
                  <a:srgbClr val="526571"/>
                </a:solidFill>
                <a:latin typeface="Arial"/>
                <a:ea typeface="Arial"/>
                <a:cs typeface="Arial"/>
              </a:defRPr>
            </a:pPr>
            <a:r>
              <a:rPr sz="1200" b="0">
                <a:solidFill>
                  <a:srgbClr val="526571"/>
                </a:solidFill>
                <a:latin typeface="Arial"/>
                <a:ea typeface="Arial"/>
                <a:cs typeface="Arial"/>
              </a:rPr>
              <a:t>DỮ LIỆU RUNG EPSON</a:t>
            </a:r>
          </a:p>
        </p:txBody>
      </p:sp>
      <p:sp>
        <p:nvSpPr>
          <p:cNvPr id="3" name="">
            <a:extLst xmlns:a="http://schemas.openxmlformats.org/drawingml/2006/main">
              <a:ext uri="{FF2B5EF4-FFF2-40B4-BE49-F238E27FC236}">
                <a16:creationId xmlns:a16="http://schemas.microsoft.com/office/drawing/2014/main" id="{73E2FEC0-CD79-457B-8F70-D465E5948650}"/>
              </a:ext>
            </a:extLst>
          </p:cNvPr>
          <p:cNvSpPr>
            <a:spLocks xmlns:a="http://schemas.openxmlformats.org/drawingml/2006/main" noGrp="1"/>
          </p:cNvSpPr>
          <p:nvPr/>
        </p:nvSpPr>
        <p:spPr>
          <a:xfrm xmlns:a="http://schemas.openxmlformats.org/drawingml/2006/main">
            <a:off x="11087100" y="63817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571"/>
                </a:solidFill>
                <a:latin typeface="Arial"/>
                <a:ea typeface="Arial"/>
                <a:cs typeface="Arial"/>
              </a:defRPr>
            </a:defPPr>
          </a:lstStyle>
          <a:p xmlns:a="http://schemas.openxmlformats.org/drawingml/2006/main">
            <a:pPr>
              <a:defRPr sz="1500" b="0">
                <a:solidFill>
                  <a:srgbClr val="526571"/>
                </a:solidFill>
                <a:latin typeface="Arial"/>
                <a:ea typeface="Arial"/>
                <a:cs typeface="Arial"/>
              </a:defRPr>
            </a:pPr>
            <a:r>
              <a:rPr sz="1500" b="0">
                <a:solidFill>
                  <a:srgbClr val="526571"/>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D197B8DF-26E5-4C6A-972C-398A9FAE7583}"/>
              </a:ext>
            </a:extLst>
          </p:cNvPr>
          <p:cNvGraphicFramePr/>
          <p:nvPr/>
        </p:nvGraphicFramePr>
        <p:xfrm>
          <a:off xmlns:a="http://schemas.openxmlformats.org/drawingml/2006/main" x="609600" y="1647825"/>
          <a:ext xmlns:a="http://schemas.openxmlformats.org/drawingml/2006/main" cx="10972800" cy="3638550"/>
        </p:xfrm>
        <a:graphic xmlns:a="http://schemas.openxmlformats.org/drawingml/2006/main">
          <a:graphicData uri="http://schemas.openxmlformats.org/drawingml/2006/table">
            <a:tbl>
              <a:tblPr/>
              <a:tblGrid>
                <a:gridCol w="3781425"/>
                <a:gridCol w="3600450"/>
                <a:gridCol w="3590925"/>
              </a:tblGrid>
              <a:tr h="727710">
                <a:tc>
                  <a:txBody>
                    <a:bodyPr/>
                    <a:lstStyle/>
                    <a:p>
                      <a:r>
                        <a:rPr sz="1875" b="1">
                          <a:solidFill>
                            <a:srgbClr val="FFFFFF"/>
                          </a:solidFill>
                          <a:latin typeface="Arial"/>
                          <a:ea typeface="Arial"/>
                          <a:cs typeface="Arial"/>
                        </a:rPr>
                        <a:t>Phương án</a:t>
                      </a:r>
                    </a:p>
                  </a:txBody>
                  <a:tcPr marL="152400" marR="152400" marT="114300" marB="114300" anchor="ctr">
                    <a:solidFill>
                      <a:srgbClr val="19354A"/>
                    </a:solidFill>
                  </a:tcPr>
                </a:tc>
                <a:tc>
                  <a:txBody>
                    <a:bodyPr/>
                    <a:lstStyle/>
                    <a:p>
                      <a:r>
                        <a:rPr sz="1875" b="1">
                          <a:solidFill>
                            <a:srgbClr val="FFFFFF"/>
                          </a:solidFill>
                          <a:latin typeface="Arial"/>
                          <a:ea typeface="Arial"/>
                          <a:cs typeface="Arial"/>
                        </a:rPr>
                        <a:t>k1 Phát hiện / Báo nhầm</a:t>
                      </a:r>
                    </a:p>
                  </a:txBody>
                  <a:tcPr marL="152400" marR="152400" marT="114300" marB="114300" anchor="ctr">
                    <a:solidFill>
                      <a:srgbClr val="19354A"/>
                    </a:solidFill>
                  </a:tcPr>
                </a:tc>
                <a:tc>
                  <a:txBody>
                    <a:bodyPr/>
                    <a:lstStyle/>
                    <a:p>
                      <a:r>
                        <a:rPr sz="1875" b="1">
                          <a:solidFill>
                            <a:srgbClr val="FFFFFF"/>
                          </a:solidFill>
                          <a:latin typeface="Arial"/>
                          <a:ea typeface="Arial"/>
                          <a:cs typeface="Arial"/>
                        </a:rPr>
                        <a:t>k4 Phát hiện / Báo nhầm</a:t>
                      </a:r>
                    </a:p>
                  </a:txBody>
                  <a:tcPr marL="152400" marR="152400" marT="114300" marB="114300" anchor="ctr">
                    <a:solidFill>
                      <a:srgbClr val="19354A"/>
                    </a:solidFill>
                  </a:tcPr>
                </a:tc>
              </a:tr>
              <a:tr h="727710">
                <a:tc>
                  <a:txBody>
                    <a:bodyPr/>
                    <a:lstStyle/>
                    <a:p>
                      <a:r>
                        <a:rPr sz="1875" b="0">
                          <a:solidFill>
                            <a:srgbClr val="19354A"/>
                          </a:solidFill>
                          <a:latin typeface="Arial"/>
                          <a:ea typeface="Arial"/>
                          <a:cs typeface="Arial"/>
                        </a:rPr>
                        <a:t>Dữ liệu thật</a:t>
                      </a:r>
                    </a:p>
                  </a:txBody>
                  <a:tcPr marL="152400" marR="152400" marT="114300" marB="114300" anchor="ctr">
                    <a:solidFill>
                      <a:srgbClr val="F0F5F6"/>
                    </a:solidFill>
                  </a:tcPr>
                </a:tc>
                <a:tc>
                  <a:txBody>
                    <a:bodyPr/>
                    <a:lstStyle/>
                    <a:p>
                      <a:r>
                        <a:rPr sz="1875" b="0">
                          <a:solidFill>
                            <a:srgbClr val="19354A"/>
                          </a:solidFill>
                          <a:latin typeface="Arial"/>
                          <a:ea typeface="Arial"/>
                          <a:cs typeface="Arial"/>
                        </a:rPr>
                        <a:t>11,7% / 8,3%</a:t>
                      </a:r>
                    </a:p>
                  </a:txBody>
                  <a:tcPr marL="152400" marR="152400" marT="114300" marB="114300" anchor="ctr">
                    <a:solidFill>
                      <a:srgbClr val="F0F5F6"/>
                    </a:solidFill>
                  </a:tcPr>
                </a:tc>
                <a:tc>
                  <a:txBody>
                    <a:bodyPr/>
                    <a:lstStyle/>
                    <a:p>
                      <a:r>
                        <a:rPr sz="1875" b="0">
                          <a:solidFill>
                            <a:srgbClr val="19354A"/>
                          </a:solidFill>
                          <a:latin typeface="Arial"/>
                          <a:ea typeface="Arial"/>
                          <a:cs typeface="Arial"/>
                        </a:rPr>
                        <a:t>96,7% / 8,3%</a:t>
                      </a:r>
                    </a:p>
                  </a:txBody>
                  <a:tcPr marL="152400" marR="152400" marT="114300" marB="114300" anchor="ctr">
                    <a:solidFill>
                      <a:srgbClr val="F0F5F6"/>
                    </a:solidFill>
                  </a:tcPr>
                </a:tc>
              </a:tr>
              <a:tr h="727710">
                <a:tc>
                  <a:txBody>
                    <a:bodyPr/>
                    <a:lstStyle/>
                    <a:p>
                      <a:r>
                        <a:rPr sz="1875" b="0">
                          <a:solidFill>
                            <a:srgbClr val="19354A"/>
                          </a:solidFill>
                          <a:latin typeface="Arial"/>
                          <a:ea typeface="Arial"/>
                          <a:cs typeface="Arial"/>
                        </a:rPr>
                        <a:t>Lặp mẫu thật</a:t>
                      </a:r>
                    </a:p>
                  </a:txBody>
                  <a:tcPr marL="152400" marR="152400" marT="114300" marB="114300" anchor="ctr">
                    <a:solidFill>
                      <a:srgbClr val="FFFFFF"/>
                    </a:solidFill>
                  </a:tcPr>
                </a:tc>
                <a:tc>
                  <a:txBody>
                    <a:bodyPr/>
                    <a:lstStyle/>
                    <a:p>
                      <a:r>
                        <a:rPr sz="1875" b="0">
                          <a:solidFill>
                            <a:srgbClr val="19354A"/>
                          </a:solidFill>
                          <a:latin typeface="Arial"/>
                          <a:ea typeface="Arial"/>
                          <a:cs typeface="Arial"/>
                        </a:rPr>
                        <a:t>20,0% / 16,7%</a:t>
                      </a:r>
                    </a:p>
                  </a:txBody>
                  <a:tcPr marL="152400" marR="152400" marT="114300" marB="114300" anchor="ctr">
                    <a:solidFill>
                      <a:srgbClr val="FFFFFF"/>
                    </a:solidFill>
                  </a:tcPr>
                </a:tc>
                <a:tc>
                  <a:txBody>
                    <a:bodyPr/>
                    <a:lstStyle/>
                    <a:p>
                      <a:r>
                        <a:rPr sz="1875" b="0">
                          <a:solidFill>
                            <a:srgbClr val="19354A"/>
                          </a:solidFill>
                          <a:latin typeface="Arial"/>
                          <a:ea typeface="Arial"/>
                          <a:cs typeface="Arial"/>
                        </a:rPr>
                        <a:t>91,7% / 0,0%</a:t>
                      </a:r>
                    </a:p>
                  </a:txBody>
                  <a:tcPr marL="152400" marR="152400" marT="114300" marB="114300" anchor="ctr">
                    <a:solidFill>
                      <a:srgbClr val="FFFFFF"/>
                    </a:solidFill>
                  </a:tcPr>
                </a:tc>
              </a:tr>
              <a:tr h="727710">
                <a:tc>
                  <a:txBody>
                    <a:bodyPr/>
                    <a:lstStyle/>
                    <a:p>
                      <a:r>
                        <a:rPr sz="1875" b="0">
                          <a:solidFill>
                            <a:srgbClr val="19354A"/>
                          </a:solidFill>
                          <a:latin typeface="Arial"/>
                          <a:ea typeface="Arial"/>
                          <a:cs typeface="Arial"/>
                        </a:rPr>
                        <a:t>Tăng cường đơn giản</a:t>
                      </a:r>
                    </a:p>
                  </a:txBody>
                  <a:tcPr marL="152400" marR="152400" marT="114300" marB="114300" anchor="ctr">
                    <a:solidFill>
                      <a:srgbClr val="F0F5F6"/>
                    </a:solidFill>
                  </a:tcPr>
                </a:tc>
                <a:tc>
                  <a:txBody>
                    <a:bodyPr/>
                    <a:lstStyle/>
                    <a:p>
                      <a:r>
                        <a:rPr sz="1875" b="0">
                          <a:solidFill>
                            <a:srgbClr val="19354A"/>
                          </a:solidFill>
                          <a:latin typeface="Arial"/>
                          <a:ea typeface="Arial"/>
                          <a:cs typeface="Arial"/>
                        </a:rPr>
                        <a:t>100,0% / 0,0%</a:t>
                      </a:r>
                    </a:p>
                  </a:txBody>
                  <a:tcPr marL="152400" marR="152400" marT="114300" marB="114300" anchor="ctr">
                    <a:solidFill>
                      <a:srgbClr val="F0F5F6"/>
                    </a:solidFill>
                  </a:tcPr>
                </a:tc>
                <a:tc>
                  <a:txBody>
                    <a:bodyPr/>
                    <a:lstStyle/>
                    <a:p>
                      <a:r>
                        <a:rPr sz="1875" b="0">
                          <a:solidFill>
                            <a:srgbClr val="19354A"/>
                          </a:solidFill>
                          <a:latin typeface="Arial"/>
                          <a:ea typeface="Arial"/>
                          <a:cs typeface="Arial"/>
                        </a:rPr>
                        <a:t>100,0% / 0,0%</a:t>
                      </a:r>
                    </a:p>
                  </a:txBody>
                  <a:tcPr marL="152400" marR="152400" marT="114300" marB="114300" anchor="ctr">
                    <a:solidFill>
                      <a:srgbClr val="F0F5F6"/>
                    </a:solidFill>
                  </a:tcPr>
                </a:tc>
              </a:tr>
              <a:tr h="727710">
                <a:tc>
                  <a:txBody>
                    <a:bodyPr/>
                    <a:lstStyle/>
                    <a:p>
                      <a:r>
                        <a:rPr sz="1875" b="0">
                          <a:solidFill>
                            <a:srgbClr val="19354A"/>
                          </a:solidFill>
                          <a:latin typeface="Arial"/>
                          <a:ea typeface="Arial"/>
                          <a:cs typeface="Arial"/>
                        </a:rPr>
                        <a:t>cVAE</a:t>
                      </a:r>
                    </a:p>
                  </a:txBody>
                  <a:tcPr marL="152400" marR="152400" marT="114300" marB="114300" anchor="ctr">
                    <a:solidFill>
                      <a:srgbClr val="FFFFFF"/>
                    </a:solidFill>
                  </a:tcPr>
                </a:tc>
                <a:tc>
                  <a:txBody>
                    <a:bodyPr/>
                    <a:lstStyle/>
                    <a:p>
                      <a:r>
                        <a:rPr sz="1875" b="0">
                          <a:solidFill>
                            <a:srgbClr val="19354A"/>
                          </a:solidFill>
                          <a:latin typeface="Arial"/>
                          <a:ea typeface="Arial"/>
                          <a:cs typeface="Arial"/>
                        </a:rPr>
                        <a:t>43,3% / 16,7%</a:t>
                      </a:r>
                    </a:p>
                  </a:txBody>
                  <a:tcPr marL="152400" marR="152400" marT="114300" marB="114300" anchor="ctr">
                    <a:solidFill>
                      <a:srgbClr val="FFFFFF"/>
                    </a:solidFill>
                  </a:tcPr>
                </a:tc>
                <a:tc>
                  <a:txBody>
                    <a:bodyPr/>
                    <a:lstStyle/>
                    <a:p>
                      <a:r>
                        <a:rPr sz="1875" b="0">
                          <a:solidFill>
                            <a:srgbClr val="19354A"/>
                          </a:solidFill>
                          <a:latin typeface="Arial"/>
                          <a:ea typeface="Arial"/>
                          <a:cs typeface="Arial"/>
                        </a:rPr>
                        <a:t>78,3% / 0,0%</a:t>
                      </a:r>
                    </a:p>
                  </a:txBody>
                  <a:tcPr marL="152400" marR="152400" marT="114300" marB="1143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4F1EBBD-6776-4BA1-BE9E-FA5E67311756}"/>
              </a:ext>
            </a:extLst>
          </p:cNvPr>
          <p:cNvSpPr>
            <a:spLocks xmlns:a="http://schemas.openxmlformats.org/drawingml/2006/main" noGrp="1"/>
          </p:cNvSpPr>
          <p:nvPr/>
        </p:nvSpPr>
        <p:spPr>
          <a:xfrm xmlns:a="http://schemas.openxmlformats.org/drawingml/2006/main">
            <a:off x="609600" y="56102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571"/>
                </a:solidFill>
                <a:latin typeface="Arial"/>
                <a:ea typeface="Arial"/>
                <a:cs typeface="Arial"/>
              </a:defRPr>
            </a:defPPr>
          </a:lstStyle>
          <a:p xmlns:a="http://schemas.openxmlformats.org/drawingml/2006/main">
            <a:pPr>
              <a:defRPr sz="1875" b="0">
                <a:solidFill>
                  <a:srgbClr val="526571"/>
                </a:solidFill>
                <a:latin typeface="Arial"/>
                <a:ea typeface="Arial"/>
                <a:cs typeface="Arial"/>
              </a:defRPr>
            </a:pPr>
            <a:r>
              <a:rPr sz="1875" b="0">
                <a:solidFill>
                  <a:srgbClr val="526571"/>
                </a:solidFill>
                <a:latin typeface="Arial"/>
                <a:ea typeface="Arial"/>
                <a:cs typeface="Arial"/>
              </a:rPr>
              <a:t>Trung bình 3 seed trên cùng 24 bản ghi. 100% theo bản ghi ≠ 100% từng đoạn.</a:t>
            </a:r>
          </a:p>
        </p:txBody>
      </p:sp>
    </p:spTree>
    <p:extLst>
      <p:ext uri="{BB962C8B-B14F-4D97-AF65-F5344CB8AC3E}">
        <p14:creationId xmlns:p14="http://schemas.microsoft.com/office/powerpoint/2010/main" val="19525472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A6B577-93C1-450C-A604-4B20548A394C}"/>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9354A"/>
                </a:solidFill>
                <a:latin typeface="Arial"/>
                <a:ea typeface="Arial"/>
                <a:cs typeface="Arial"/>
              </a:defRPr>
            </a:defPPr>
          </a:lstStyle>
          <a:p xmlns:a="http://schemas.openxmlformats.org/drawingml/2006/main">
            <a:pPr>
              <a:defRPr sz="3300" b="1">
                <a:solidFill>
                  <a:srgbClr val="19354A"/>
                </a:solidFill>
                <a:latin typeface="Arial"/>
                <a:ea typeface="Arial"/>
                <a:cs typeface="Arial"/>
              </a:defRPr>
            </a:pPr>
            <a:r>
              <a:rPr sz="3300" b="1">
                <a:solidFill>
                  <a:srgbClr val="19354A"/>
                </a:solidFill>
                <a:latin typeface="Arial"/>
                <a:ea typeface="Arial"/>
                <a:cs typeface="Arial"/>
              </a:rPr>
              <a:t>Mẫu sinh còn khác về biên độ và phổ</a:t>
            </a:r>
          </a:p>
        </p:txBody>
      </p:sp>
      <p:sp>
        <p:nvSpPr>
          <p:cNvPr id="2" name="">
            <a:extLst xmlns:a="http://schemas.openxmlformats.org/drawingml/2006/main">
              <a:ext uri="{FF2B5EF4-FFF2-40B4-BE49-F238E27FC236}">
                <a16:creationId xmlns:a16="http://schemas.microsoft.com/office/drawing/2014/main" id="{EF1EF30E-57F1-4CAB-963D-1449A4F5A3CB}"/>
              </a:ext>
            </a:extLst>
          </p:cNvPr>
          <p:cNvSpPr>
            <a:spLocks xmlns:a="http://schemas.openxmlformats.org/drawingml/2006/main" noGrp="1"/>
          </p:cNvSpPr>
          <p:nvPr/>
        </p:nvSpPr>
        <p:spPr>
          <a:xfrm xmlns:a="http://schemas.openxmlformats.org/drawingml/2006/main">
            <a:off x="609600" y="6410325"/>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571"/>
                </a:solidFill>
                <a:latin typeface="Arial"/>
                <a:ea typeface="Arial"/>
                <a:cs typeface="Arial"/>
              </a:defRPr>
            </a:defPPr>
          </a:lstStyle>
          <a:p xmlns:a="http://schemas.openxmlformats.org/drawingml/2006/main">
            <a:pPr>
              <a:defRPr sz="1200" b="0">
                <a:solidFill>
                  <a:srgbClr val="526571"/>
                </a:solidFill>
                <a:latin typeface="Arial"/>
                <a:ea typeface="Arial"/>
                <a:cs typeface="Arial"/>
              </a:defRPr>
            </a:pPr>
            <a:r>
              <a:rPr sz="1200" b="0">
                <a:solidFill>
                  <a:srgbClr val="526571"/>
                </a:solidFill>
                <a:latin typeface="Arial"/>
                <a:ea typeface="Arial"/>
                <a:cs typeface="Arial"/>
              </a:rPr>
              <a:t>DỮ LIỆU RUNG EPSON</a:t>
            </a:r>
          </a:p>
        </p:txBody>
      </p:sp>
      <p:sp>
        <p:nvSpPr>
          <p:cNvPr id="3" name="">
            <a:extLst xmlns:a="http://schemas.openxmlformats.org/drawingml/2006/main">
              <a:ext uri="{FF2B5EF4-FFF2-40B4-BE49-F238E27FC236}">
                <a16:creationId xmlns:a16="http://schemas.microsoft.com/office/drawing/2014/main" id="{3CD16879-F3A7-484B-8BAF-E3D82539D6E6}"/>
              </a:ext>
            </a:extLst>
          </p:cNvPr>
          <p:cNvSpPr>
            <a:spLocks xmlns:a="http://schemas.openxmlformats.org/drawingml/2006/main" noGrp="1"/>
          </p:cNvSpPr>
          <p:nvPr/>
        </p:nvSpPr>
        <p:spPr>
          <a:xfrm xmlns:a="http://schemas.openxmlformats.org/drawingml/2006/main">
            <a:off x="11087100" y="63817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571"/>
                </a:solidFill>
                <a:latin typeface="Arial"/>
                <a:ea typeface="Arial"/>
                <a:cs typeface="Arial"/>
              </a:defRPr>
            </a:defPPr>
          </a:lstStyle>
          <a:p xmlns:a="http://schemas.openxmlformats.org/drawingml/2006/main">
            <a:pPr>
              <a:defRPr sz="1500" b="0">
                <a:solidFill>
                  <a:srgbClr val="526571"/>
                </a:solidFill>
                <a:latin typeface="Arial"/>
                <a:ea typeface="Arial"/>
                <a:cs typeface="Arial"/>
              </a:defRPr>
            </a:pPr>
            <a:r>
              <a:rPr sz="1500" b="0">
                <a:solidFill>
                  <a:srgbClr val="526571"/>
                </a:solidFill>
                <a:latin typeface="Arial"/>
                <a:ea typeface="Arial"/>
                <a:cs typeface="Arial"/>
              </a:rPr>
              <a:t>08</a:t>
            </a:r>
          </a:p>
        </p:txBody>
      </p:sp>
      <p:pic>
        <p:nvPicPr>
          <p:cNvPr id="4" name="">
            <a:extLst xmlns:a="http://schemas.openxmlformats.org/drawingml/2006/main">
              <a:ext uri="{FF2B5EF4-FFF2-40B4-BE49-F238E27FC236}">
                <a16:creationId xmlns:a16="http://schemas.microsoft.com/office/drawing/2014/main" id="{02AF50C8-71F7-42A0-82DA-E24236CB9B0D}"/>
              </a:ext>
            </a:extLst>
          </p:cNvPr>
          <p:cNvPicPr>
            <a:picLocks xmlns:a="http://schemas.openxmlformats.org/drawingml/2006/main" noChangeAspect="1"/>
          </p:cNvPicPr>
          <p:nvPr/>
        </p:nvPicPr>
        <p:blipFill>
          <a:blip xmlns:r="http://schemas.openxmlformats.org/officeDocument/2006/relationships" xmlns:a="http://schemas.openxmlformats.org/drawingml/2006/main" r:embed="R962e82409a1a4f55"/>
          <a:stretch xmlns:a="http://schemas.openxmlformats.org/drawingml/2006/main"/>
        </p:blipFill>
        <p:spPr>
          <a:xfrm xmlns:a="http://schemas.openxmlformats.org/drawingml/2006/main">
            <a:off x="466725" y="1668595"/>
            <a:ext cx="7591425" cy="400658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E7BB633-7039-48BB-8151-BE8A797792C0}"/>
              </a:ext>
            </a:extLst>
          </p:cNvPr>
          <p:cNvSpPr>
            <a:spLocks xmlns:a="http://schemas.openxmlformats.org/drawingml/2006/main" noGrp="1"/>
          </p:cNvSpPr>
          <p:nvPr/>
        </p:nvSpPr>
        <p:spPr>
          <a:xfrm xmlns:a="http://schemas.openxmlformats.org/drawingml/2006/main">
            <a:off x="8201025" y="2171700"/>
            <a:ext cx="3324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087E83"/>
                </a:solidFill>
                <a:latin typeface="Arial"/>
                <a:ea typeface="Arial"/>
                <a:cs typeface="Arial"/>
              </a:defRPr>
            </a:defPPr>
          </a:lstStyle>
          <a:p xmlns:a="http://schemas.openxmlformats.org/drawingml/2006/main">
            <a:pPr>
              <a:defRPr sz="3225" b="1">
                <a:solidFill>
                  <a:srgbClr val="087E83"/>
                </a:solidFill>
                <a:latin typeface="Arial"/>
                <a:ea typeface="Arial"/>
                <a:cs typeface="Arial"/>
              </a:defRPr>
            </a:pPr>
            <a:r>
              <a:rPr sz="3225" b="1">
                <a:solidFill>
                  <a:srgbClr val="087E83"/>
                </a:solidFill>
                <a:latin typeface="Arial"/>
                <a:ea typeface="Arial"/>
                <a:cs typeface="Arial"/>
              </a:rPr>
              <a:t>17,5–25,8%</a:t>
            </a:r>
          </a:p>
        </p:txBody>
      </p:sp>
      <p:sp>
        <p:nvSpPr>
          <p:cNvPr id="6" name="">
            <a:extLst xmlns:a="http://schemas.openxmlformats.org/drawingml/2006/main">
              <a:ext uri="{FF2B5EF4-FFF2-40B4-BE49-F238E27FC236}">
                <a16:creationId xmlns:a16="http://schemas.microsoft.com/office/drawing/2014/main" id="{82E4F8C9-CA9B-4575-99C1-97CF74F2B7EC}"/>
              </a:ext>
            </a:extLst>
          </p:cNvPr>
          <p:cNvSpPr>
            <a:spLocks xmlns:a="http://schemas.openxmlformats.org/drawingml/2006/main" noGrp="1"/>
          </p:cNvSpPr>
          <p:nvPr/>
        </p:nvSpPr>
        <p:spPr>
          <a:xfrm xmlns:a="http://schemas.openxmlformats.org/drawingml/2006/main">
            <a:off x="8201025" y="2981325"/>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9354A"/>
                </a:solidFill>
                <a:latin typeface="Arial"/>
                <a:ea typeface="Arial"/>
                <a:cs typeface="Arial"/>
              </a:defRPr>
            </a:defPPr>
          </a:lstStyle>
          <a:p xmlns:a="http://schemas.openxmlformats.org/drawingml/2006/main">
            <a:pPr>
              <a:defRPr sz="2175" b="0">
                <a:solidFill>
                  <a:srgbClr val="19354A"/>
                </a:solidFill>
                <a:latin typeface="Arial"/>
                <a:ea typeface="Arial"/>
                <a:cs typeface="Arial"/>
              </a:defRPr>
            </a:pPr>
            <a:r>
              <a:rPr sz="2175" b="0">
                <a:solidFill>
                  <a:srgbClr val="19354A"/>
                </a:solidFill>
                <a:latin typeface="Arial"/>
                <a:ea typeface="Arial"/>
                <a:cs typeface="Arial"/>
              </a:rPr>
              <a:t>RMS mẫu sinh</a:t>
            </a:r>
          </a:p>
          <a:p xmlns:a="http://schemas.openxmlformats.org/drawingml/2006/main">
            <a:pPr>
              <a:defRPr sz="2175" b="0">
                <a:solidFill>
                  <a:srgbClr val="19354A"/>
                </a:solidFill>
                <a:latin typeface="Arial"/>
                <a:ea typeface="Arial"/>
                <a:cs typeface="Arial"/>
              </a:defRPr>
            </a:pPr>
            <a:r>
              <a:rPr sz="2175" b="0">
                <a:solidFill>
                  <a:srgbClr val="19354A"/>
                </a:solidFill>
                <a:latin typeface="Arial"/>
                <a:ea typeface="Arial"/>
                <a:cs typeface="Arial"/>
              </a:rPr>
              <a:t>so với mẫu thật</a:t>
            </a:r>
          </a:p>
        </p:txBody>
      </p:sp>
      <p:sp>
        <p:nvSpPr>
          <p:cNvPr id="7" name="">
            <a:extLst xmlns:a="http://schemas.openxmlformats.org/drawingml/2006/main">
              <a:ext uri="{FF2B5EF4-FFF2-40B4-BE49-F238E27FC236}">
                <a16:creationId xmlns:a16="http://schemas.microsoft.com/office/drawing/2014/main" id="{64148999-E9A4-47B4-B8C4-4BB888FEC25D}"/>
              </a:ext>
            </a:extLst>
          </p:cNvPr>
          <p:cNvSpPr>
            <a:spLocks xmlns:a="http://schemas.openxmlformats.org/drawingml/2006/main" noGrp="1"/>
          </p:cNvSpPr>
          <p:nvPr/>
        </p:nvSpPr>
        <p:spPr>
          <a:xfrm xmlns:a="http://schemas.openxmlformats.org/drawingml/2006/main">
            <a:off x="8201025" y="4505325"/>
            <a:ext cx="333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9354A"/>
                </a:solidFill>
                <a:latin typeface="Arial"/>
                <a:ea typeface="Arial"/>
                <a:cs typeface="Arial"/>
              </a:defRPr>
            </a:defPPr>
          </a:lstStyle>
          <a:p xmlns:a="http://schemas.openxmlformats.org/drawingml/2006/main">
            <a:pPr>
              <a:defRPr sz="2025" b="0">
                <a:solidFill>
                  <a:srgbClr val="19354A"/>
                </a:solidFill>
                <a:latin typeface="Arial"/>
                <a:ea typeface="Arial"/>
                <a:cs typeface="Arial"/>
              </a:defRPr>
            </a:pPr>
            <a:r>
              <a:rPr sz="2025" b="0">
                <a:solidFill>
                  <a:srgbClr val="19354A"/>
                </a:solidFill>
                <a:latin typeface="Arial"/>
                <a:ea typeface="Arial"/>
                <a:cs typeface="Arial"/>
              </a:rPr>
              <a:t>Biên độ thấp hơn</a:t>
            </a:r>
          </a:p>
          <a:p xmlns:a="http://schemas.openxmlformats.org/drawingml/2006/main">
            <a:pPr>
              <a:defRPr sz="2025" b="0">
                <a:solidFill>
                  <a:srgbClr val="19354A"/>
                </a:solidFill>
                <a:latin typeface="Arial"/>
                <a:ea typeface="Arial"/>
                <a:cs typeface="Arial"/>
              </a:defRPr>
            </a:pPr>
            <a:r>
              <a:rPr sz="2025" b="0">
                <a:solidFill>
                  <a:srgbClr val="19354A"/>
                </a:solidFill>
                <a:latin typeface="Arial"/>
                <a:ea typeface="Arial"/>
                <a:cs typeface="Arial"/>
              </a:rPr>
              <a:t>và phổ còn khác</a:t>
            </a:r>
          </a:p>
        </p:txBody>
      </p:sp>
      <p:sp>
        <p:nvSpPr>
          <p:cNvPr id="8" name="">
            <a:extLst xmlns:a="http://schemas.openxmlformats.org/drawingml/2006/main">
              <a:ext uri="{FF2B5EF4-FFF2-40B4-BE49-F238E27FC236}">
                <a16:creationId xmlns:a16="http://schemas.microsoft.com/office/drawing/2014/main" id="{66481D39-454E-4119-AB75-9C8609FAA0C4}"/>
              </a:ext>
            </a:extLst>
          </p:cNvPr>
          <p:cNvSpPr>
            <a:spLocks xmlns:a="http://schemas.openxmlformats.org/drawingml/2006/main" noGrp="1"/>
          </p:cNvSpPr>
          <p:nvPr/>
        </p:nvSpPr>
        <p:spPr>
          <a:xfrm xmlns:a="http://schemas.openxmlformats.org/drawingml/2006/main">
            <a:off x="609600" y="58102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571"/>
                </a:solidFill>
                <a:latin typeface="Arial"/>
                <a:ea typeface="Arial"/>
                <a:cs typeface="Arial"/>
              </a:defRPr>
            </a:defPPr>
          </a:lstStyle>
          <a:p xmlns:a="http://schemas.openxmlformats.org/drawingml/2006/main">
            <a:pPr>
              <a:defRPr sz="1725" b="0">
                <a:solidFill>
                  <a:srgbClr val="526571"/>
                </a:solidFill>
                <a:latin typeface="Arial"/>
                <a:ea typeface="Arial"/>
                <a:cs typeface="Arial"/>
              </a:defRPr>
            </a:pPr>
            <a:r>
              <a:rPr sz="1725" b="0">
                <a:solidFill>
                  <a:srgbClr val="526571"/>
                </a:solidFill>
                <a:latin typeface="Arial"/>
                <a:ea typeface="Arial"/>
                <a:cs typeface="Arial"/>
              </a:rPr>
              <a:t>Hình minh họa một mẫu. Kết quả RMS xét các thiết lập, seed và nhãn đã kiểm tra.</a:t>
            </a:r>
          </a:p>
        </p:txBody>
      </p:sp>
    </p:spTree>
    <p:extLst>
      <p:ext uri="{BB962C8B-B14F-4D97-AF65-F5344CB8AC3E}">
        <p14:creationId xmlns:p14="http://schemas.microsoft.com/office/powerpoint/2010/main" val="19970653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02F1AEB-206B-4C95-A93C-3A018AE0443E}"/>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9354A"/>
                </a:solidFill>
                <a:latin typeface="Arial"/>
                <a:ea typeface="Arial"/>
                <a:cs typeface="Arial"/>
              </a:defRPr>
            </a:defPPr>
          </a:lstStyle>
          <a:p xmlns:a="http://schemas.openxmlformats.org/drawingml/2006/main">
            <a:pPr>
              <a:defRPr sz="3300" b="1">
                <a:solidFill>
                  <a:srgbClr val="19354A"/>
                </a:solidFill>
                <a:latin typeface="Arial"/>
                <a:ea typeface="Arial"/>
                <a:cs typeface="Arial"/>
              </a:defRPr>
            </a:pPr>
            <a:r>
              <a:rPr sz="3300" b="1">
                <a:solidFill>
                  <a:srgbClr val="19354A"/>
                </a:solidFill>
                <a:latin typeface="Arial"/>
                <a:ea typeface="Arial"/>
                <a:cs typeface="Arial"/>
              </a:rPr>
              <a:t>Demo: chọn nhãn và xuất tín hiệu mới</a:t>
            </a:r>
          </a:p>
        </p:txBody>
      </p:sp>
      <p:sp>
        <p:nvSpPr>
          <p:cNvPr id="2" name="">
            <a:extLst xmlns:a="http://schemas.openxmlformats.org/drawingml/2006/main">
              <a:ext uri="{FF2B5EF4-FFF2-40B4-BE49-F238E27FC236}">
                <a16:creationId xmlns:a16="http://schemas.microsoft.com/office/drawing/2014/main" id="{004DF593-C879-4864-9EB7-059FCA924E41}"/>
              </a:ext>
            </a:extLst>
          </p:cNvPr>
          <p:cNvSpPr>
            <a:spLocks xmlns:a="http://schemas.openxmlformats.org/drawingml/2006/main" noGrp="1"/>
          </p:cNvSpPr>
          <p:nvPr/>
        </p:nvSpPr>
        <p:spPr>
          <a:xfrm xmlns:a="http://schemas.openxmlformats.org/drawingml/2006/main">
            <a:off x="609600" y="6410325"/>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571"/>
                </a:solidFill>
                <a:latin typeface="Arial"/>
                <a:ea typeface="Arial"/>
                <a:cs typeface="Arial"/>
              </a:defRPr>
            </a:defPPr>
          </a:lstStyle>
          <a:p xmlns:a="http://schemas.openxmlformats.org/drawingml/2006/main">
            <a:pPr>
              <a:defRPr sz="1200" b="0">
                <a:solidFill>
                  <a:srgbClr val="526571"/>
                </a:solidFill>
                <a:latin typeface="Arial"/>
                <a:ea typeface="Arial"/>
                <a:cs typeface="Arial"/>
              </a:defRPr>
            </a:pPr>
            <a:r>
              <a:rPr sz="1200" b="0">
                <a:solidFill>
                  <a:srgbClr val="526571"/>
                </a:solidFill>
                <a:latin typeface="Arial"/>
                <a:ea typeface="Arial"/>
                <a:cs typeface="Arial"/>
              </a:rPr>
              <a:t>DỮ LIỆU RUNG EPSON</a:t>
            </a:r>
          </a:p>
        </p:txBody>
      </p:sp>
      <p:sp>
        <p:nvSpPr>
          <p:cNvPr id="3" name="">
            <a:extLst xmlns:a="http://schemas.openxmlformats.org/drawingml/2006/main">
              <a:ext uri="{FF2B5EF4-FFF2-40B4-BE49-F238E27FC236}">
                <a16:creationId xmlns:a16="http://schemas.microsoft.com/office/drawing/2014/main" id="{0A6BFEF1-B102-4A70-88B6-73E0E37DD173}"/>
              </a:ext>
            </a:extLst>
          </p:cNvPr>
          <p:cNvSpPr>
            <a:spLocks xmlns:a="http://schemas.openxmlformats.org/drawingml/2006/main" noGrp="1"/>
          </p:cNvSpPr>
          <p:nvPr/>
        </p:nvSpPr>
        <p:spPr>
          <a:xfrm xmlns:a="http://schemas.openxmlformats.org/drawingml/2006/main">
            <a:off x="11087100" y="63817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571"/>
                </a:solidFill>
                <a:latin typeface="Arial"/>
                <a:ea typeface="Arial"/>
                <a:cs typeface="Arial"/>
              </a:defRPr>
            </a:defPPr>
          </a:lstStyle>
          <a:p xmlns:a="http://schemas.openxmlformats.org/drawingml/2006/main">
            <a:pPr>
              <a:defRPr sz="1500" b="0">
                <a:solidFill>
                  <a:srgbClr val="526571"/>
                </a:solidFill>
                <a:latin typeface="Arial"/>
                <a:ea typeface="Arial"/>
                <a:cs typeface="Arial"/>
              </a:defRPr>
            </a:pPr>
            <a:r>
              <a:rPr sz="1500" b="0">
                <a:solidFill>
                  <a:srgbClr val="526571"/>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2815992C-5CB6-4B68-9D5A-C66D5A4E12F6}"/>
              </a:ext>
            </a:extLst>
          </p:cNvPr>
          <p:cNvSpPr>
            <a:spLocks xmlns:a="http://schemas.openxmlformats.org/drawingml/2006/main" noGrp="1"/>
          </p:cNvSpPr>
          <p:nvPr/>
        </p:nvSpPr>
        <p:spPr>
          <a:xfrm xmlns:a="http://schemas.openxmlformats.org/drawingml/2006/main">
            <a:off x="609600" y="17621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87E83"/>
                </a:solidFill>
                <a:latin typeface="Arial"/>
                <a:ea typeface="Arial"/>
                <a:cs typeface="Arial"/>
              </a:defRPr>
            </a:defPPr>
          </a:lstStyle>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38AA17E-0364-43EC-8A6D-350C64DE4424}"/>
              </a:ext>
            </a:extLst>
          </p:cNvPr>
          <p:cNvSpPr>
            <a:spLocks xmlns:a="http://schemas.openxmlformats.org/drawingml/2006/main" noGrp="1"/>
          </p:cNvSpPr>
          <p:nvPr/>
        </p:nvSpPr>
        <p:spPr>
          <a:xfrm xmlns:a="http://schemas.openxmlformats.org/drawingml/2006/main">
            <a:off x="1447800" y="1762125"/>
            <a:ext cx="10048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9354A"/>
                </a:solidFill>
                <a:latin typeface="Arial"/>
                <a:ea typeface="Arial"/>
                <a:cs typeface="Arial"/>
              </a:defRPr>
            </a:defPPr>
          </a:lstStyle>
          <a:p xmlns:a="http://schemas.openxmlformats.org/drawingml/2006/main">
            <a:pPr>
              <a:defRPr sz="2325" b="0">
                <a:solidFill>
                  <a:srgbClr val="19354A"/>
                </a:solidFill>
                <a:latin typeface="Arial"/>
                <a:ea typeface="Arial"/>
                <a:cs typeface="Arial"/>
              </a:defRPr>
            </a:pPr>
            <a:r>
              <a:rPr sz="2325" b="0">
                <a:solidFill>
                  <a:srgbClr val="19354A"/>
                </a:solidFill>
                <a:latin typeface="Arial"/>
                <a:ea typeface="Arial"/>
                <a:cs typeface="Arial"/>
              </a:rPr>
              <a:t>Chọn nhãn lỗi 1–5, số mẫu và seed.</a:t>
            </a:r>
          </a:p>
        </p:txBody>
      </p:sp>
      <p:sp>
        <p:nvSpPr>
          <p:cNvPr id="6" name="">
            <a:extLst xmlns:a="http://schemas.openxmlformats.org/drawingml/2006/main">
              <a:ext uri="{FF2B5EF4-FFF2-40B4-BE49-F238E27FC236}">
                <a16:creationId xmlns:a16="http://schemas.microsoft.com/office/drawing/2014/main" id="{935DA944-AFA3-423D-A416-EBE4C99ADBB7}"/>
              </a:ext>
            </a:extLst>
          </p:cNvPr>
          <p:cNvSpPr>
            <a:spLocks xmlns:a="http://schemas.openxmlformats.org/drawingml/2006/main" noGrp="1"/>
          </p:cNvSpPr>
          <p:nvPr/>
        </p:nvSpPr>
        <p:spPr>
          <a:xfrm xmlns:a="http://schemas.openxmlformats.org/drawingml/2006/main">
            <a:off x="609600" y="30003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87E83"/>
                </a:solidFill>
                <a:latin typeface="Arial"/>
                <a:ea typeface="Arial"/>
                <a:cs typeface="Arial"/>
              </a:defRPr>
            </a:defPPr>
          </a:lstStyle>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451D49A-5B2C-495A-A948-FE25F1F15076}"/>
              </a:ext>
            </a:extLst>
          </p:cNvPr>
          <p:cNvSpPr>
            <a:spLocks xmlns:a="http://schemas.openxmlformats.org/drawingml/2006/main" noGrp="1"/>
          </p:cNvSpPr>
          <p:nvPr/>
        </p:nvSpPr>
        <p:spPr>
          <a:xfrm xmlns:a="http://schemas.openxmlformats.org/drawingml/2006/main">
            <a:off x="1447800" y="3000375"/>
            <a:ext cx="10048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9354A"/>
                </a:solidFill>
                <a:latin typeface="Arial"/>
                <a:ea typeface="Arial"/>
                <a:cs typeface="Arial"/>
              </a:defRPr>
            </a:defPPr>
          </a:lstStyle>
          <a:p xmlns:a="http://schemas.openxmlformats.org/drawingml/2006/main">
            <a:pPr>
              <a:defRPr sz="2325" b="0">
                <a:solidFill>
                  <a:srgbClr val="19354A"/>
                </a:solidFill>
                <a:latin typeface="Arial"/>
                <a:ea typeface="Arial"/>
                <a:cs typeface="Arial"/>
              </a:defRPr>
            </a:pPr>
            <a:r>
              <a:rPr sz="2325" b="0">
                <a:solidFill>
                  <a:srgbClr val="19354A"/>
                </a:solidFill>
                <a:latin typeface="Arial"/>
                <a:ea typeface="Arial"/>
                <a:cs typeface="Arial"/>
              </a:rPr>
              <a:t>Sinh XYZ một giây và kiểm tra biên độ RMS.</a:t>
            </a:r>
          </a:p>
        </p:txBody>
      </p:sp>
      <p:sp>
        <p:nvSpPr>
          <p:cNvPr id="8" name="">
            <a:extLst xmlns:a="http://schemas.openxmlformats.org/drawingml/2006/main">
              <a:ext uri="{FF2B5EF4-FFF2-40B4-BE49-F238E27FC236}">
                <a16:creationId xmlns:a16="http://schemas.microsoft.com/office/drawing/2014/main" id="{6A3ED9FF-BA03-43BE-B973-663BDBDDC84D}"/>
              </a:ext>
            </a:extLst>
          </p:cNvPr>
          <p:cNvSpPr>
            <a:spLocks xmlns:a="http://schemas.openxmlformats.org/drawingml/2006/main" noGrp="1"/>
          </p:cNvSpPr>
          <p:nvPr/>
        </p:nvSpPr>
        <p:spPr>
          <a:xfrm xmlns:a="http://schemas.openxmlformats.org/drawingml/2006/main">
            <a:off x="609600" y="42386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87E83"/>
                </a:solidFill>
                <a:latin typeface="Arial"/>
                <a:ea typeface="Arial"/>
                <a:cs typeface="Arial"/>
              </a:defRPr>
            </a:defPPr>
          </a:lstStyle>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72ABF192-261B-4590-8846-AB3FED63989F}"/>
              </a:ext>
            </a:extLst>
          </p:cNvPr>
          <p:cNvSpPr>
            <a:spLocks xmlns:a="http://schemas.openxmlformats.org/drawingml/2006/main" noGrp="1"/>
          </p:cNvSpPr>
          <p:nvPr/>
        </p:nvSpPr>
        <p:spPr>
          <a:xfrm xmlns:a="http://schemas.openxmlformats.org/drawingml/2006/main">
            <a:off x="1447800" y="4238625"/>
            <a:ext cx="10048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9354A"/>
                </a:solidFill>
                <a:latin typeface="Arial"/>
                <a:ea typeface="Arial"/>
                <a:cs typeface="Arial"/>
              </a:defRPr>
            </a:defPPr>
          </a:lstStyle>
          <a:p xmlns:a="http://schemas.openxmlformats.org/drawingml/2006/main">
            <a:pPr>
              <a:defRPr sz="2325" b="0">
                <a:solidFill>
                  <a:srgbClr val="19354A"/>
                </a:solidFill>
                <a:latin typeface="Arial"/>
                <a:ea typeface="Arial"/>
                <a:cs typeface="Arial"/>
              </a:defRPr>
            </a:pPr>
            <a:r>
              <a:rPr sz="2325" b="0">
                <a:solidFill>
                  <a:srgbClr val="19354A"/>
                </a:solidFill>
                <a:latin typeface="Arial"/>
                <a:ea typeface="Arial"/>
                <a:cs typeface="Arial"/>
              </a:rPr>
              <a:t>Xuất dữ liệu, nhãn và thông tin tạo mẫu.</a:t>
            </a:r>
          </a:p>
        </p:txBody>
      </p:sp>
      <p:sp>
        <p:nvSpPr>
          <p:cNvPr id="10" name="">
            <a:extLst xmlns:a="http://schemas.openxmlformats.org/drawingml/2006/main">
              <a:ext uri="{FF2B5EF4-FFF2-40B4-BE49-F238E27FC236}">
                <a16:creationId xmlns:a16="http://schemas.microsoft.com/office/drawing/2014/main" id="{3497A7EF-B7A6-411E-9366-0DB2BE81279A}"/>
              </a:ext>
            </a:extLst>
          </p:cNvPr>
          <p:cNvSpPr>
            <a:spLocks xmlns:a="http://schemas.openxmlformats.org/drawingml/2006/main" noGrp="1"/>
          </p:cNvSpPr>
          <p:nvPr/>
        </p:nvSpPr>
        <p:spPr>
          <a:xfrm xmlns:a="http://schemas.openxmlformats.org/drawingml/2006/main">
            <a:off x="609600" y="5762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087E83"/>
                </a:solidFill>
                <a:latin typeface="Arial"/>
                <a:ea typeface="Arial"/>
                <a:cs typeface="Arial"/>
              </a:defRPr>
            </a:defPPr>
          </a:lstStyle>
          <a:p xmlns:a="http://schemas.openxmlformats.org/drawingml/2006/main">
            <a:pPr>
              <a:defRPr sz="1875" b="0">
                <a:solidFill>
                  <a:srgbClr val="087E83"/>
                </a:solidFill>
                <a:latin typeface="Arial"/>
                <a:ea typeface="Arial"/>
                <a:cs typeface="Arial"/>
              </a:defRPr>
            </a:pPr>
            <a:r>
              <a:rPr sz="1875" b="0">
                <a:solidFill>
                  <a:srgbClr val="087E83"/>
                </a:solidFill>
                <a:latin typeface="Arial"/>
                <a:ea typeface="Arial"/>
                <a:cs typeface="Arial"/>
              </a:rPr>
              <a:t>Bộ tăng cường: 1.222 đoạn thật + 3.290 đoạn sinh = 4.512 đoạn.</a:t>
            </a:r>
          </a:p>
        </p:txBody>
      </p:sp>
    </p:spTree>
    <p:extLst>
      <p:ext uri="{BB962C8B-B14F-4D97-AF65-F5344CB8AC3E}">
        <p14:creationId xmlns:p14="http://schemas.microsoft.com/office/powerpoint/2010/main" val="1686467279"/>
      </p:ext>
    </p:extLst>
  </p:cSld>
</p:sld>
</file>

<file path=ppt/slides/slide10.xml><?xml version="1.0" encoding="utf-8"?>
<p:sld xmlns:p="http://schemas.openxmlformats.org/presentationml/2006/main">
  <p:cSld>
    <p:bg>
      <p:bgPr>
        <a:solidFill xmlns:a="http://schemas.openxmlformats.org/drawingml/2006/main">
          <a:srgbClr val="1935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3F89A83-0A81-4D24-9F6C-7E20B5507830}"/>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Thêm mẫu chưa đủ để phát hiện tốt hơn</a:t>
            </a:r>
          </a:p>
        </p:txBody>
      </p:sp>
      <p:sp>
        <p:nvSpPr>
          <p:cNvPr id="2" name="">
            <a:extLst xmlns:a="http://schemas.openxmlformats.org/drawingml/2006/main">
              <a:ext uri="{FF2B5EF4-FFF2-40B4-BE49-F238E27FC236}">
                <a16:creationId xmlns:a16="http://schemas.microsoft.com/office/drawing/2014/main" id="{2932E505-A31A-4D2B-836B-EAEAD26252E7}"/>
              </a:ext>
            </a:extLst>
          </p:cNvPr>
          <p:cNvSpPr>
            <a:spLocks xmlns:a="http://schemas.openxmlformats.org/drawingml/2006/main" noGrp="1"/>
          </p:cNvSpPr>
          <p:nvPr/>
        </p:nvSpPr>
        <p:spPr>
          <a:xfrm xmlns:a="http://schemas.openxmlformats.org/drawingml/2006/main">
            <a:off x="609600" y="6410325"/>
            <a:ext cx="914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C4D9DF"/>
                </a:solidFill>
                <a:latin typeface="Arial"/>
                <a:ea typeface="Arial"/>
                <a:cs typeface="Arial"/>
              </a:defRPr>
            </a:defPPr>
          </a:lstStyle>
          <a:p xmlns:a="http://schemas.openxmlformats.org/drawingml/2006/main">
            <a:pPr>
              <a:defRPr sz="1200" b="0">
                <a:solidFill>
                  <a:srgbClr val="C4D9DF"/>
                </a:solidFill>
                <a:latin typeface="Arial"/>
                <a:ea typeface="Arial"/>
                <a:cs typeface="Arial"/>
              </a:defRPr>
            </a:pPr>
            <a:r>
              <a:rPr sz="1200" b="0">
                <a:solidFill>
                  <a:srgbClr val="C4D9DF"/>
                </a:solidFill>
                <a:latin typeface="Arial"/>
                <a:ea typeface="Arial"/>
                <a:cs typeface="Arial"/>
              </a:rPr>
              <a:t>DỮ LIỆU RUNG EPSON</a:t>
            </a:r>
          </a:p>
        </p:txBody>
      </p:sp>
      <p:sp>
        <p:nvSpPr>
          <p:cNvPr id="3" name="">
            <a:extLst xmlns:a="http://schemas.openxmlformats.org/drawingml/2006/main">
              <a:ext uri="{FF2B5EF4-FFF2-40B4-BE49-F238E27FC236}">
                <a16:creationId xmlns:a16="http://schemas.microsoft.com/office/drawing/2014/main" id="{E90BD290-275D-45C2-9893-53713EFC05CA}"/>
              </a:ext>
            </a:extLst>
          </p:cNvPr>
          <p:cNvSpPr>
            <a:spLocks xmlns:a="http://schemas.openxmlformats.org/drawingml/2006/main" noGrp="1"/>
          </p:cNvSpPr>
          <p:nvPr/>
        </p:nvSpPr>
        <p:spPr>
          <a:xfrm xmlns:a="http://schemas.openxmlformats.org/drawingml/2006/main">
            <a:off x="11087100" y="63817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C4D9DF"/>
                </a:solidFill>
                <a:latin typeface="Arial"/>
                <a:ea typeface="Arial"/>
                <a:cs typeface="Arial"/>
              </a:defRPr>
            </a:defPPr>
          </a:lstStyle>
          <a:p xmlns:a="http://schemas.openxmlformats.org/drawingml/2006/main">
            <a:pPr>
              <a:defRPr sz="1500" b="0">
                <a:solidFill>
                  <a:srgbClr val="C4D9DF"/>
                </a:solidFill>
                <a:latin typeface="Arial"/>
                <a:ea typeface="Arial"/>
                <a:cs typeface="Arial"/>
              </a:defRPr>
            </a:pPr>
            <a:r>
              <a:rPr sz="1500" b="0">
                <a:solidFill>
                  <a:srgbClr val="C4D9DF"/>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D75397B1-796F-414A-BBD6-E71BCCD77D70}"/>
              </a:ext>
            </a:extLst>
          </p:cNvPr>
          <p:cNvSpPr>
            <a:spLocks xmlns:a="http://schemas.openxmlformats.org/drawingml/2006/main" noGrp="1"/>
          </p:cNvSpPr>
          <p:nvPr/>
        </p:nvSpPr>
        <p:spPr>
          <a:xfrm xmlns:a="http://schemas.openxmlformats.org/drawingml/2006/main">
            <a:off x="628650" y="2114550"/>
            <a:ext cx="108775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cVAE chưa vượt tăng cường đơn giản</a:t>
            </a:r>
          </a:p>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trong thí nghiệm Epson.</a:t>
            </a:r>
          </a:p>
        </p:txBody>
      </p:sp>
      <p:sp>
        <p:nvSpPr>
          <p:cNvPr id="5" name="">
            <a:extLst xmlns:a="http://schemas.openxmlformats.org/drawingml/2006/main">
              <a:ext uri="{FF2B5EF4-FFF2-40B4-BE49-F238E27FC236}">
                <a16:creationId xmlns:a16="http://schemas.microsoft.com/office/drawing/2014/main" id="{52C97A4E-2DB9-4757-A866-AFEBC4E275C4}"/>
              </a:ext>
            </a:extLst>
          </p:cNvPr>
          <p:cNvSpPr>
            <a:spLocks xmlns:a="http://schemas.openxmlformats.org/drawingml/2006/main" noGrp="1"/>
          </p:cNvSpPr>
          <p:nvPr/>
        </p:nvSpPr>
        <p:spPr>
          <a:xfrm xmlns:a="http://schemas.openxmlformats.org/drawingml/2006/main">
            <a:off x="628650" y="4038600"/>
            <a:ext cx="108775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0">
                <a:solidFill>
                  <a:srgbClr val="C4D9DF"/>
                </a:solidFill>
                <a:latin typeface="Arial"/>
                <a:ea typeface="Arial"/>
                <a:cs typeface="Arial"/>
              </a:defRPr>
            </a:defPPr>
          </a:lstStyle>
          <a:p xmlns:a="http://schemas.openxmlformats.org/drawingml/2006/main">
            <a:pPr>
              <a:defRPr sz="2625" b="0">
                <a:solidFill>
                  <a:srgbClr val="C4D9DF"/>
                </a:solidFill>
                <a:latin typeface="Arial"/>
                <a:ea typeface="Arial"/>
                <a:cs typeface="Arial"/>
              </a:defRPr>
            </a:pPr>
            <a:r>
              <a:rPr sz="2625" b="0">
                <a:solidFill>
                  <a:srgbClr val="C4D9DF"/>
                </a:solidFill>
                <a:latin typeface="Arial"/>
                <a:ea typeface="Arial"/>
                <a:cs typeface="Arial"/>
              </a:rPr>
              <a:t>Cần đọc cùng lúc chất lượng tín hiệu,</a:t>
            </a:r>
          </a:p>
          <a:p xmlns:a="http://schemas.openxmlformats.org/drawingml/2006/main">
            <a:pPr>
              <a:defRPr sz="2625" b="0">
                <a:solidFill>
                  <a:srgbClr val="C4D9DF"/>
                </a:solidFill>
                <a:latin typeface="Arial"/>
                <a:ea typeface="Arial"/>
                <a:cs typeface="Arial"/>
              </a:defRPr>
            </a:pPr>
            <a:r>
              <a:rPr sz="2625" b="0">
                <a:solidFill>
                  <a:srgbClr val="C4D9DF"/>
                </a:solidFill>
                <a:latin typeface="Arial"/>
                <a:ea typeface="Arial"/>
                <a:cs typeface="Arial"/>
              </a:rPr>
              <a:t>tỷ lệ phát hiện lỗi và tỷ lệ báo nhầm.</a:t>
            </a:r>
          </a:p>
        </p:txBody>
      </p:sp>
    </p:spTree>
    <p:extLst>
      <p:ext uri="{BB962C8B-B14F-4D97-AF65-F5344CB8AC3E}">
        <p14:creationId xmlns:p14="http://schemas.microsoft.com/office/powerpoint/2010/main" val="13429228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2026-10-10T17:55:51.4210000Z</dcterms:created>
  <dcterms:modified xsi:type="dcterms:W3CDTF">2026-10-10T17:55:51.4210000Z</dcterms:modified>
</coreProperties>
</file>